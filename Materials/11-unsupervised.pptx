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77" r:id="rId2"/>
    <p:sldId id="278" r:id="rId3"/>
    <p:sldId id="279" r:id="rId4"/>
    <p:sldId id="282" r:id="rId5"/>
    <p:sldId id="325" r:id="rId6"/>
    <p:sldId id="302" r:id="rId7"/>
    <p:sldId id="312" r:id="rId8"/>
    <p:sldId id="283" r:id="rId9"/>
    <p:sldId id="284" r:id="rId10"/>
    <p:sldId id="285" r:id="rId11"/>
    <p:sldId id="287" r:id="rId12"/>
    <p:sldId id="326" r:id="rId13"/>
    <p:sldId id="288" r:id="rId14"/>
    <p:sldId id="289" r:id="rId15"/>
    <p:sldId id="290" r:id="rId16"/>
    <p:sldId id="286" r:id="rId17"/>
    <p:sldId id="291" r:id="rId18"/>
    <p:sldId id="292" r:id="rId19"/>
    <p:sldId id="293" r:id="rId20"/>
    <p:sldId id="294" r:id="rId21"/>
    <p:sldId id="327" r:id="rId22"/>
    <p:sldId id="295" r:id="rId23"/>
    <p:sldId id="296" r:id="rId24"/>
    <p:sldId id="328" r:id="rId25"/>
    <p:sldId id="329" r:id="rId26"/>
    <p:sldId id="313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30" r:id="rId37"/>
    <p:sldId id="332" r:id="rId38"/>
    <p:sldId id="324" r:id="rId39"/>
    <p:sldId id="314" r:id="rId40"/>
    <p:sldId id="297" r:id="rId41"/>
    <p:sldId id="298" r:id="rId42"/>
    <p:sldId id="299" r:id="rId43"/>
    <p:sldId id="303" r:id="rId44"/>
    <p:sldId id="304" r:id="rId45"/>
    <p:sldId id="300" r:id="rId46"/>
    <p:sldId id="301" r:id="rId4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0719" autoAdjust="0"/>
  </p:normalViewPr>
  <p:slideViewPr>
    <p:cSldViewPr snapToGrid="0">
      <p:cViewPr varScale="1">
        <p:scale>
          <a:sx n="60" d="100"/>
          <a:sy n="60" d="100"/>
        </p:scale>
        <p:origin x="12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tmp"/><Relationship Id="rId4" Type="http://schemas.openxmlformats.org/officeDocument/2006/relationships/image" Target="../media/image6.tm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tmp"/><Relationship Id="rId5" Type="http://schemas.openxmlformats.org/officeDocument/2006/relationships/image" Target="../media/image13.tmp"/><Relationship Id="rId4" Type="http://schemas.openxmlformats.org/officeDocument/2006/relationships/image" Target="../media/image12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tmp"/><Relationship Id="rId4" Type="http://schemas.openxmlformats.org/officeDocument/2006/relationships/image" Target="../media/image17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7" Type="http://schemas.openxmlformats.org/officeDocument/2006/relationships/image" Target="../media/image24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tmp"/><Relationship Id="rId5" Type="http://schemas.openxmlformats.org/officeDocument/2006/relationships/image" Target="../media/image22.tmp"/><Relationship Id="rId4" Type="http://schemas.openxmlformats.org/officeDocument/2006/relationships/image" Target="../media/image21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tmp"/><Relationship Id="rId5" Type="http://schemas.openxmlformats.org/officeDocument/2006/relationships/image" Target="../media/image30.tmp"/><Relationship Id="rId4" Type="http://schemas.openxmlformats.org/officeDocument/2006/relationships/image" Target="../media/image29.tm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tmp"/><Relationship Id="rId4" Type="http://schemas.openxmlformats.org/officeDocument/2006/relationships/image" Target="../media/image38.tm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ftaliharris.com/blog/visualizing-dbscan-clustering/" TargetMode="External"/><Relationship Id="rId2" Type="http://schemas.openxmlformats.org/officeDocument/2006/relationships/image" Target="../media/image44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mp"/><Relationship Id="rId2" Type="http://schemas.openxmlformats.org/officeDocument/2006/relationships/image" Target="../media/image4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tm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mp"/><Relationship Id="rId2" Type="http://schemas.openxmlformats.org/officeDocument/2006/relationships/image" Target="../media/image4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tm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tmp"/><Relationship Id="rId2" Type="http://schemas.openxmlformats.org/officeDocument/2006/relationships/image" Target="../media/image52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tmp"/><Relationship Id="rId3" Type="http://schemas.openxmlformats.org/officeDocument/2006/relationships/image" Target="../media/image56.tmp"/><Relationship Id="rId7" Type="http://schemas.openxmlformats.org/officeDocument/2006/relationships/image" Target="../media/image60.tmp"/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tmp"/><Relationship Id="rId5" Type="http://schemas.openxmlformats.org/officeDocument/2006/relationships/image" Target="../media/image58.tmp"/><Relationship Id="rId4" Type="http://schemas.openxmlformats.org/officeDocument/2006/relationships/image" Target="../media/image57.tmp"/><Relationship Id="rId9" Type="http://schemas.openxmlformats.org/officeDocument/2006/relationships/image" Target="../media/image62.tm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tmp"/><Relationship Id="rId2" Type="http://schemas.openxmlformats.org/officeDocument/2006/relationships/image" Target="../media/image6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tmp"/><Relationship Id="rId5" Type="http://schemas.openxmlformats.org/officeDocument/2006/relationships/image" Target="../media/image66.tmp"/><Relationship Id="rId4" Type="http://schemas.openxmlformats.org/officeDocument/2006/relationships/image" Target="../media/image65.tm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tmp"/><Relationship Id="rId2" Type="http://schemas.openxmlformats.org/officeDocument/2006/relationships/image" Target="../media/image6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tm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tmp"/><Relationship Id="rId2" Type="http://schemas.openxmlformats.org/officeDocument/2006/relationships/image" Target="../media/image7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tmp"/><Relationship Id="rId5" Type="http://schemas.openxmlformats.org/officeDocument/2006/relationships/image" Target="../media/image73.tmp"/><Relationship Id="rId4" Type="http://schemas.openxmlformats.org/officeDocument/2006/relationships/image" Target="../media/image72.tm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tmp"/><Relationship Id="rId2" Type="http://schemas.openxmlformats.org/officeDocument/2006/relationships/image" Target="../media/image7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tmp"/><Relationship Id="rId5" Type="http://schemas.openxmlformats.org/officeDocument/2006/relationships/image" Target="../media/image78.tmp"/><Relationship Id="rId4" Type="http://schemas.openxmlformats.org/officeDocument/2006/relationships/image" Target="../media/image77.tm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tmp"/><Relationship Id="rId2" Type="http://schemas.openxmlformats.org/officeDocument/2006/relationships/image" Target="../media/image80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tmp"/><Relationship Id="rId2" Type="http://schemas.openxmlformats.org/officeDocument/2006/relationships/image" Target="../media/image82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tmp"/><Relationship Id="rId4" Type="http://schemas.openxmlformats.org/officeDocument/2006/relationships/image" Target="../media/image84.tm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tmp"/><Relationship Id="rId2" Type="http://schemas.openxmlformats.org/officeDocument/2006/relationships/image" Target="../media/image8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tmp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8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tmp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tmp"/><Relationship Id="rId2" Type="http://schemas.openxmlformats.org/officeDocument/2006/relationships/image" Target="../media/image88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tmp"/><Relationship Id="rId2" Type="http://schemas.openxmlformats.org/officeDocument/2006/relationships/image" Target="../media/image9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tmp"/><Relationship Id="rId5" Type="http://schemas.openxmlformats.org/officeDocument/2006/relationships/image" Target="../media/image93.tmp"/><Relationship Id="rId4" Type="http://schemas.openxmlformats.org/officeDocument/2006/relationships/image" Target="../media/image92.tm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tmp"/><Relationship Id="rId2" Type="http://schemas.openxmlformats.org/officeDocument/2006/relationships/image" Target="../media/image95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tmp"/><Relationship Id="rId4" Type="http://schemas.openxmlformats.org/officeDocument/2006/relationships/image" Target="../media/image97.tm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tmp"/><Relationship Id="rId2" Type="http://schemas.openxmlformats.org/officeDocument/2006/relationships/image" Target="../media/image9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tmp"/><Relationship Id="rId5" Type="http://schemas.openxmlformats.org/officeDocument/2006/relationships/image" Target="../media/image102.tmp"/><Relationship Id="rId4" Type="http://schemas.openxmlformats.org/officeDocument/2006/relationships/image" Target="../media/image101.tmp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tmp"/><Relationship Id="rId2" Type="http://schemas.openxmlformats.org/officeDocument/2006/relationships/image" Target="../media/image8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tmp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tmp"/><Relationship Id="rId2" Type="http://schemas.openxmlformats.org/officeDocument/2006/relationships/image" Target="../media/image8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E55AB-6FBF-B0C9-8397-B1AFFFCA7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636" y="1122363"/>
            <a:ext cx="10384465" cy="3056232"/>
          </a:xfrm>
        </p:spPr>
        <p:txBody>
          <a:bodyPr>
            <a:normAutofit/>
          </a:bodyPr>
          <a:lstStyle/>
          <a:p>
            <a:r>
              <a:rPr lang="en-US" dirty="0"/>
              <a:t>Unsupervised learning: clustering, dimension reduction, data visualization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54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2B13A-0C0C-A949-B7E4-CAEFC4B0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vs. unsupervised learning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2E291-2EE1-5C34-9735-012067AB578B}"/>
              </a:ext>
            </a:extLst>
          </p:cNvPr>
          <p:cNvSpPr txBox="1"/>
          <p:nvPr/>
        </p:nvSpPr>
        <p:spPr>
          <a:xfrm>
            <a:off x="946298" y="2073346"/>
            <a:ext cx="3148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Supervised learning: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7748CB-6705-2231-D5BA-C167AE6AE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631" y="2056070"/>
            <a:ext cx="3963633" cy="5404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EAD4077-A0CF-1002-3F28-0AEA9AA5F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249" y="2813311"/>
            <a:ext cx="1930926" cy="5232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6F277E-1DF9-D740-7F71-85C722C7211D}"/>
              </a:ext>
            </a:extLst>
          </p:cNvPr>
          <p:cNvSpPr txBox="1"/>
          <p:nvPr/>
        </p:nvSpPr>
        <p:spPr>
          <a:xfrm>
            <a:off x="946298" y="2792045"/>
            <a:ext cx="4015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Goal: prediction algorithm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FD0331-ABE2-74A8-D064-09A856E8C293}"/>
              </a:ext>
            </a:extLst>
          </p:cNvPr>
          <p:cNvSpPr txBox="1"/>
          <p:nvPr/>
        </p:nvSpPr>
        <p:spPr>
          <a:xfrm>
            <a:off x="946298" y="4338084"/>
            <a:ext cx="35446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Unsupervised learning: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B18F795-09AD-FCBD-BD04-A448681D4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986" y="4338084"/>
            <a:ext cx="1220843" cy="5232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070E7D-4DF0-18CA-735B-E82F03EA8AA2}"/>
              </a:ext>
            </a:extLst>
          </p:cNvPr>
          <p:cNvSpPr txBox="1"/>
          <p:nvPr/>
        </p:nvSpPr>
        <p:spPr>
          <a:xfrm>
            <a:off x="946298" y="4967633"/>
            <a:ext cx="89207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Goal: undefined. Usually used in exploratory data analysis, auxiliary computations in supervised pipelines, and for finding good data representation.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6550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059AB7-1F0E-3065-083E-F2AFF7001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AE0485-15B6-28E0-E5D6-FB09BA34D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699" y="1435384"/>
            <a:ext cx="1251112" cy="625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2327AE-9032-757B-77B6-B3A44F17EA80}"/>
              </a:ext>
            </a:extLst>
          </p:cNvPr>
          <p:cNvSpPr txBox="1"/>
          <p:nvPr/>
        </p:nvSpPr>
        <p:spPr>
          <a:xfrm>
            <a:off x="903765" y="1499182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Dataset: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3E4427-0451-BB09-7C4F-9600DA040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694" y="2711298"/>
            <a:ext cx="3106691" cy="54367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896300-5F3D-AC2D-BAC7-76B3AC5B26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63" y="3301407"/>
            <a:ext cx="5675930" cy="5436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194FC3-AC77-0016-DD00-BFABF2B92A41}"/>
              </a:ext>
            </a:extLst>
          </p:cNvPr>
          <p:cNvSpPr txBox="1"/>
          <p:nvPr/>
        </p:nvSpPr>
        <p:spPr>
          <a:xfrm>
            <a:off x="903763" y="2105240"/>
            <a:ext cx="6222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Goal: split dataset into K groups (clusters)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0669FB5-6F71-FBEC-2B88-DD89CC9069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724" y="3947395"/>
            <a:ext cx="7506283" cy="281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90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A4610-3529-6652-835D-412A3B45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applications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5802C-A723-C45B-DC0A-B845070CFBCC}"/>
              </a:ext>
            </a:extLst>
          </p:cNvPr>
          <p:cNvSpPr txBox="1"/>
          <p:nvPr/>
        </p:nvSpPr>
        <p:spPr>
          <a:xfrm>
            <a:off x="838200" y="1626487"/>
            <a:ext cx="1083712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800" dirty="0"/>
              <a:t>News aggregator: cluster all news and show to users only one item from each group (unique news)</a:t>
            </a:r>
          </a:p>
          <a:p>
            <a:pPr marL="342900" indent="-342900">
              <a:buAutoNum type="arabicParenR"/>
            </a:pPr>
            <a:endParaRPr lang="en-US" sz="2800" dirty="0"/>
          </a:p>
          <a:p>
            <a:pPr marL="342900" indent="-342900">
              <a:buAutoNum type="arabicParenR"/>
            </a:pPr>
            <a:r>
              <a:rPr lang="en-US" sz="2800" dirty="0"/>
              <a:t>Advertisement pre</a:t>
            </a:r>
            <a:r>
              <a:rPr lang="ru-RU" sz="2800" dirty="0"/>
              <a:t>-</a:t>
            </a:r>
            <a:r>
              <a:rPr lang="en-US" sz="2800" dirty="0"/>
              <a:t>moderation: cluster all advertisements into groups and do moderation only for one element in each group</a:t>
            </a:r>
          </a:p>
          <a:p>
            <a:pPr marL="342900" indent="-342900">
              <a:buAutoNum type="arabicParenR"/>
            </a:pPr>
            <a:endParaRPr lang="en-US" sz="2800" dirty="0"/>
          </a:p>
          <a:p>
            <a:pPr marL="342900" indent="-342900">
              <a:buAutoNum type="arabicParenR"/>
            </a:pPr>
            <a:r>
              <a:rPr lang="en-US" sz="2800" dirty="0"/>
              <a:t>Market segmentation: cluster all customers of some business into groups and use targeted advertisement</a:t>
            </a:r>
          </a:p>
          <a:p>
            <a:pPr marL="342900" indent="-342900">
              <a:buAutoNum type="arabicParenR"/>
            </a:pPr>
            <a:endParaRPr lang="en-US" sz="2800" dirty="0"/>
          </a:p>
          <a:p>
            <a:pPr marL="342900" indent="-342900">
              <a:buAutoNum type="arabicParenR"/>
            </a:pPr>
            <a:r>
              <a:rPr lang="en-US" sz="2800" dirty="0"/>
              <a:t>Market Basket analysis: analyze sales in supermarkets and find which items are usually bought together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91826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CFC17-9325-C5DA-9A0A-A113FE27D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applications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D058A-9152-45BF-7CC2-E7E5EEC95A69}"/>
              </a:ext>
            </a:extLst>
          </p:cNvPr>
          <p:cNvSpPr txBox="1"/>
          <p:nvPr/>
        </p:nvSpPr>
        <p:spPr>
          <a:xfrm>
            <a:off x="853875" y="1499924"/>
            <a:ext cx="9629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Clustering is used often for intermediate steps in ML pipeline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177064-C506-DD5B-2B90-029A71857374}"/>
              </a:ext>
            </a:extLst>
          </p:cNvPr>
          <p:cNvSpPr txBox="1"/>
          <p:nvPr/>
        </p:nvSpPr>
        <p:spPr>
          <a:xfrm>
            <a:off x="864508" y="2521345"/>
            <a:ext cx="4143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</a:t>
            </a:r>
            <a:r>
              <a:rPr lang="ru-RU" sz="2800" dirty="0"/>
              <a:t> 1</a:t>
            </a:r>
            <a:r>
              <a:rPr lang="en-US" sz="2800" dirty="0"/>
              <a:t>: kernel features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623B0E3-3C90-0856-4DF6-6B6BCE1AB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743" y="3194490"/>
            <a:ext cx="4659588" cy="47855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AE2F164-9F48-2857-D0F3-6B48FA5C1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791" y="3238093"/>
            <a:ext cx="1516934" cy="4005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3DC0C2-FBD2-6F02-CBD9-D45785974569}"/>
              </a:ext>
            </a:extLst>
          </p:cNvPr>
          <p:cNvSpPr txBox="1"/>
          <p:nvPr/>
        </p:nvSpPr>
        <p:spPr>
          <a:xfrm>
            <a:off x="8929440" y="3157943"/>
            <a:ext cx="3108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centers of clusters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1181D6-A968-DC47-D7BC-69CD37713639}"/>
              </a:ext>
            </a:extLst>
          </p:cNvPr>
          <p:cNvSpPr txBox="1"/>
          <p:nvPr/>
        </p:nvSpPr>
        <p:spPr>
          <a:xfrm>
            <a:off x="864508" y="4130408"/>
            <a:ext cx="111734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</a:t>
            </a:r>
            <a:r>
              <a:rPr lang="ru-RU" sz="2800" dirty="0"/>
              <a:t> 2</a:t>
            </a:r>
            <a:r>
              <a:rPr lang="en-US" sz="2800" dirty="0"/>
              <a:t>: missing values imputation. Cluster the dataset and impute missing values by averaging of known values from the same cluster (much faster, then K-NN imputation for large datasets)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280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211CB-7584-938C-6522-B9CB1EEC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metrics: Rand Index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AF4CBA-FDB4-F3B4-AFD1-3474CB23E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028" y="2022137"/>
            <a:ext cx="812809" cy="54610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808626-D15B-CE61-95EB-39C2CD08E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835" y="1568606"/>
            <a:ext cx="837620" cy="61512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286B088-DD5A-854C-16D6-2DF5E5F33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33" y="2727766"/>
            <a:ext cx="5245550" cy="81684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736CF30-20DD-4886-E151-6E0A5B5EE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02" y="3525185"/>
            <a:ext cx="5102002" cy="83143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A3D286F-B3A2-FDFB-7BDB-8B77670CD3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67" y="4356670"/>
            <a:ext cx="3225792" cy="95410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1DFC285-9EC3-9AAD-9D51-5F3365D9B606}"/>
              </a:ext>
            </a:extLst>
          </p:cNvPr>
          <p:cNvSpPr txBox="1"/>
          <p:nvPr/>
        </p:nvSpPr>
        <p:spPr>
          <a:xfrm>
            <a:off x="861233" y="1600388"/>
            <a:ext cx="7697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Suppose we have a ground truth clustering            and want to compare it with another clustering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DA4DA6-901E-54FB-4D76-0F141F24998C}"/>
              </a:ext>
            </a:extLst>
          </p:cNvPr>
          <p:cNvSpPr txBox="1"/>
          <p:nvPr/>
        </p:nvSpPr>
        <p:spPr>
          <a:xfrm>
            <a:off x="806301" y="5378157"/>
            <a:ext cx="111446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RandIndex</a:t>
            </a:r>
            <a:r>
              <a:rPr lang="en-US" sz="2800" dirty="0"/>
              <a:t> (RI) takes values between 0 and 1, but its value is influenced by random factors (if we fix all clusters sizes in both partitions and make random clustering, then RI would be non-zero)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282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962D3-44E7-3B16-151E-F725769E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70FF0FC-C632-AB2C-40F8-AFB167D0B1D7}"/>
              </a:ext>
            </a:extLst>
          </p:cNvPr>
          <p:cNvSpPr txBox="1"/>
          <p:nvPr/>
        </p:nvSpPr>
        <p:spPr>
          <a:xfrm>
            <a:off x="853875" y="1499924"/>
            <a:ext cx="8332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fix the sizes of all clusters in both partitions:      and 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DE135-68FA-9B29-B949-762362979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metrics: Adjusted Rand Index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95EA5C7-8C98-6A0B-100A-3EA6E45D4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45" y="3177967"/>
            <a:ext cx="5135678" cy="822959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F839706-EBCC-D83B-B254-1344F2DFE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65" y="2206446"/>
            <a:ext cx="2630056" cy="83143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F5F534F-0EC1-3C8D-77EA-088B8BE9839D}"/>
              </a:ext>
            </a:extLst>
          </p:cNvPr>
          <p:cNvSpPr txBox="1"/>
          <p:nvPr/>
        </p:nvSpPr>
        <p:spPr>
          <a:xfrm>
            <a:off x="3604437" y="2344262"/>
            <a:ext cx="6947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Mean value of RI under random permutation</a:t>
            </a:r>
            <a:endParaRPr lang="ru-RU" sz="2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9D16EB-15B2-E177-BE29-DD43F3420024}"/>
              </a:ext>
            </a:extLst>
          </p:cNvPr>
          <p:cNvSpPr txBox="1"/>
          <p:nvPr/>
        </p:nvSpPr>
        <p:spPr>
          <a:xfrm>
            <a:off x="861045" y="4311411"/>
            <a:ext cx="98353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ARI takes values between -0.5 and 1: the value 1 corresponds to perfect matching, the value 0 – to random clustering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24B22A3-1502-ED4A-66A0-3C2185372E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937" y="1527244"/>
            <a:ext cx="403361" cy="48019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13945CB-C6C9-2846-D40B-2989D54B04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519" y="1542271"/>
            <a:ext cx="475762" cy="43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24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211CB-7584-938C-6522-B9CB1EEC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metrics: intra-cluster and inter-cluster distance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6AF13E-87B4-15C7-62D9-B7B404DC3CC0}"/>
              </a:ext>
            </a:extLst>
          </p:cNvPr>
          <p:cNvSpPr txBox="1"/>
          <p:nvPr/>
        </p:nvSpPr>
        <p:spPr>
          <a:xfrm>
            <a:off x="838200" y="1605775"/>
            <a:ext cx="55743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Intra-cluster</a:t>
            </a:r>
            <a:r>
              <a:rPr lang="ru-RU" sz="2800" dirty="0"/>
              <a:t> (</a:t>
            </a:r>
            <a:r>
              <a:rPr lang="en-US" sz="2800" dirty="0"/>
              <a:t>inside cluster) distance: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6BD87D-3533-BFF7-E734-6848B902E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562" y="1247060"/>
            <a:ext cx="5866846" cy="132556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B54A319-C616-50DD-3914-937E53CDD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501" y="2254177"/>
            <a:ext cx="653205" cy="5620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12B979-B4A9-B951-71E0-E4D02E79F8E1}"/>
              </a:ext>
            </a:extLst>
          </p:cNvPr>
          <p:cNvSpPr txBox="1"/>
          <p:nvPr/>
        </p:nvSpPr>
        <p:spPr>
          <a:xfrm>
            <a:off x="1873404" y="2252292"/>
            <a:ext cx="3023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centers of clusters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E3DD7-E320-9787-CCDE-6657D9554EB4}"/>
              </a:ext>
            </a:extLst>
          </p:cNvPr>
          <p:cNvSpPr txBox="1"/>
          <p:nvPr/>
        </p:nvSpPr>
        <p:spPr>
          <a:xfrm>
            <a:off x="828261" y="3247908"/>
            <a:ext cx="6007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Inter-cluster (between cluster) distance: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6183A-AF15-4A37-E2C8-BEAC81322083}"/>
              </a:ext>
            </a:extLst>
          </p:cNvPr>
          <p:cNvSpPr txBox="1"/>
          <p:nvPr/>
        </p:nvSpPr>
        <p:spPr>
          <a:xfrm>
            <a:off x="838200" y="4694666"/>
            <a:ext cx="1947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Dunn Index: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1DED92C-2FD2-8A77-E970-151665D4C1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599" y="2951985"/>
            <a:ext cx="5439572" cy="119027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C4E0D59-F101-935C-605A-CBD4A5017C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59" y="4462421"/>
            <a:ext cx="3098549" cy="97319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3EA28E6-BFBE-F6BF-71B3-374A1E230E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491" y="4462421"/>
            <a:ext cx="1340045" cy="56694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9601938-2A24-2412-5244-5DC7102CDF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491" y="5029362"/>
            <a:ext cx="844998" cy="6133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C51F1D5-8B2D-4172-8F98-8BF1DE0DE554}"/>
              </a:ext>
            </a:extLst>
          </p:cNvPr>
          <p:cNvSpPr txBox="1"/>
          <p:nvPr/>
        </p:nvSpPr>
        <p:spPr>
          <a:xfrm>
            <a:off x="8240753" y="4467263"/>
            <a:ext cx="3557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inter-cluster distance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436C39-27CD-86D5-6FCE-58B5CD6B8982}"/>
              </a:ext>
            </a:extLst>
          </p:cNvPr>
          <p:cNvSpPr txBox="1"/>
          <p:nvPr/>
        </p:nvSpPr>
        <p:spPr>
          <a:xfrm>
            <a:off x="7800410" y="5050775"/>
            <a:ext cx="3448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intra-cluster distance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C0AF0-4DDB-CA6A-044B-B515DDBAAB82}"/>
              </a:ext>
            </a:extLst>
          </p:cNvPr>
          <p:cNvSpPr txBox="1"/>
          <p:nvPr/>
        </p:nvSpPr>
        <p:spPr>
          <a:xfrm>
            <a:off x="838200" y="5771013"/>
            <a:ext cx="10859429" cy="973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 single metric usually can characterize the clustering quality. In practice here a combination of metrics and tests should be used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72816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6E816-44E9-4F56-A70A-D73681D2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6E210-6EE1-5A4E-100A-9102904FEF49}"/>
              </a:ext>
            </a:extLst>
          </p:cNvPr>
          <p:cNvSpPr txBox="1"/>
          <p:nvPr/>
        </p:nvSpPr>
        <p:spPr>
          <a:xfrm>
            <a:off x="838200" y="1561171"/>
            <a:ext cx="529657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Parameters: </a:t>
            </a:r>
          </a:p>
          <a:p>
            <a:pPr marL="342900" indent="-342900">
              <a:buAutoNum type="arabicParenR"/>
            </a:pPr>
            <a:r>
              <a:rPr lang="en-US" sz="2800" dirty="0"/>
              <a:t>centers of clusters </a:t>
            </a:r>
          </a:p>
          <a:p>
            <a:pPr marL="342900" indent="-342900">
              <a:buAutoNum type="arabicParenR"/>
            </a:pPr>
            <a:r>
              <a:rPr lang="en-US" sz="2800" dirty="0"/>
              <a:t>assignment of objects to clusters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776723-4E40-BA9A-C458-23E2A624C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399" y="2040768"/>
            <a:ext cx="541695" cy="4661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834995-D85E-D345-F733-87515BDAC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390" y="2458124"/>
            <a:ext cx="917666" cy="489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9379E5-752D-E0FB-11F6-7DB073383265}"/>
              </a:ext>
            </a:extLst>
          </p:cNvPr>
          <p:cNvSpPr txBox="1"/>
          <p:nvPr/>
        </p:nvSpPr>
        <p:spPr>
          <a:xfrm>
            <a:off x="838200" y="3384839"/>
            <a:ext cx="6946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Initialization: randomly choose cluster centers 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9D61AB-86CD-CD2B-67BF-27C0D3EB5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875" y="3466257"/>
            <a:ext cx="1939328" cy="4743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B0E786-87BB-FFE1-D9E6-805CE044725C}"/>
              </a:ext>
            </a:extLst>
          </p:cNvPr>
          <p:cNvSpPr txBox="1"/>
          <p:nvPr/>
        </p:nvSpPr>
        <p:spPr>
          <a:xfrm>
            <a:off x="838200" y="4044345"/>
            <a:ext cx="8970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Step a: for fixed cluster centers find new object assignments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8080C0-DB65-D500-1B90-AAD5382C52FC}"/>
              </a:ext>
            </a:extLst>
          </p:cNvPr>
          <p:cNvSpPr txBox="1"/>
          <p:nvPr/>
        </p:nvSpPr>
        <p:spPr>
          <a:xfrm>
            <a:off x="838200" y="4776603"/>
            <a:ext cx="8934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Step b: for fixed object assignments find new cluster centers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ACE39-483F-6DBC-D9B1-73072DFFD57D}"/>
              </a:ext>
            </a:extLst>
          </p:cNvPr>
          <p:cNvSpPr txBox="1"/>
          <p:nvPr/>
        </p:nvSpPr>
        <p:spPr>
          <a:xfrm>
            <a:off x="838200" y="5497710"/>
            <a:ext cx="5728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Repeat step a and b until convergence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65775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E0E1F-3FFE-8E7A-38B1-3A7E25B0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163A5-657F-5D46-A81A-3CDC186BF0D4}"/>
              </a:ext>
            </a:extLst>
          </p:cNvPr>
          <p:cNvSpPr txBox="1"/>
          <p:nvPr/>
        </p:nvSpPr>
        <p:spPr>
          <a:xfrm>
            <a:off x="838200" y="1590329"/>
            <a:ext cx="8970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Step a: for fixed cluster centers find new object assignments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858923-A351-EB50-103A-FC46FE311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878" y="2113549"/>
            <a:ext cx="5236275" cy="103204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E824DD6-5B6A-862E-1E1F-77C6CF5CF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762" y="3145595"/>
            <a:ext cx="3986895" cy="7790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2462D4-DF2E-5A77-3858-6A143735216C}"/>
              </a:ext>
            </a:extLst>
          </p:cNvPr>
          <p:cNvSpPr txBox="1"/>
          <p:nvPr/>
        </p:nvSpPr>
        <p:spPr>
          <a:xfrm>
            <a:off x="838200" y="4020514"/>
            <a:ext cx="8934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Step b: for fixed object assignments find new cluster centers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ECCA323-D696-55AF-4A44-EA3C42E16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878" y="4639605"/>
            <a:ext cx="5120148" cy="103204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D04ABD1-D6C0-38C4-94A9-D71CD58A76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96" y="5977995"/>
            <a:ext cx="2737564" cy="52322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BF43D83-977C-82B5-138C-FB829F7BA2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720" y="5836586"/>
            <a:ext cx="4704294" cy="88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37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ACC6D7-B7D1-EAD2-CD3F-190A5221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Illustration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965D39-3EB4-564A-550A-CC120C390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503" y="1690688"/>
            <a:ext cx="7239937" cy="487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23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0027-79DA-1DA6-AB62-2B8B8FA02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computational complexity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94B919-9146-C1E9-87E8-2487598B3543}"/>
              </a:ext>
            </a:extLst>
          </p:cNvPr>
          <p:cNvSpPr txBox="1"/>
          <p:nvPr/>
        </p:nvSpPr>
        <p:spPr>
          <a:xfrm>
            <a:off x="838200" y="1590328"/>
            <a:ext cx="110195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 – number of data points, D – number of features, K – number of clusters, I – number of K-means iterations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FB6B32-0D7D-1ED7-4E6B-81516E7C2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208" y="3706036"/>
            <a:ext cx="3986895" cy="779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E29548-31C4-565A-4948-23F0F81CAF6E}"/>
              </a:ext>
            </a:extLst>
          </p:cNvPr>
          <p:cNvSpPr txBox="1"/>
          <p:nvPr/>
        </p:nvSpPr>
        <p:spPr>
          <a:xfrm>
            <a:off x="838200" y="2800582"/>
            <a:ext cx="110195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 step </a:t>
            </a:r>
            <a:r>
              <a:rPr lang="en-US" sz="2800" b="1" i="1" dirty="0"/>
              <a:t>a</a:t>
            </a:r>
            <a:r>
              <a:rPr lang="en-US" sz="2800" dirty="0"/>
              <a:t> we need to compute for each point the distance to each cluster center: O(N*K*D)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859BE-D199-0FE5-7DE5-E0389A910BEF}"/>
              </a:ext>
            </a:extLst>
          </p:cNvPr>
          <p:cNvSpPr txBox="1"/>
          <p:nvPr/>
        </p:nvSpPr>
        <p:spPr>
          <a:xfrm>
            <a:off x="838200" y="4486816"/>
            <a:ext cx="110195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 step </a:t>
            </a:r>
            <a:r>
              <a:rPr lang="en-US" sz="2800" b="1" i="1" dirty="0"/>
              <a:t>b</a:t>
            </a:r>
            <a:r>
              <a:rPr lang="en-US" sz="2800" dirty="0"/>
              <a:t> we need to compute for cluster assignment the new center: O(K*D*N)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DA40D7D-F1E6-4A15-01BA-FC328E6BB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208" y="5254111"/>
            <a:ext cx="4704294" cy="887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01D93D-9F9A-1B9F-C73D-21A5C9011FE8}"/>
              </a:ext>
            </a:extLst>
          </p:cNvPr>
          <p:cNvSpPr txBox="1"/>
          <p:nvPr/>
        </p:nvSpPr>
        <p:spPr>
          <a:xfrm>
            <a:off x="838201" y="6177112"/>
            <a:ext cx="9918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total complexity O(N*K*D*I). If K, D, I are small, then O(N)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2938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C374B-1DFF-A911-C788-337B551F0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++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C90AD4-5933-8A92-DBBB-33ADF207B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903" y="2636595"/>
            <a:ext cx="5656945" cy="40458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EECF6E-F234-10D2-B293-DDBDDC25A045}"/>
              </a:ext>
            </a:extLst>
          </p:cNvPr>
          <p:cNvSpPr txBox="1"/>
          <p:nvPr/>
        </p:nvSpPr>
        <p:spPr>
          <a:xfrm>
            <a:off x="838200" y="1545637"/>
            <a:ext cx="84284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 in K-means: the result may heavily depend on initialization of centers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55615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E3F16-5EAC-4ACA-B319-8A932BCB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++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94F1A-55D5-A7B6-FDB7-B69290516891}"/>
              </a:ext>
            </a:extLst>
          </p:cNvPr>
          <p:cNvSpPr txBox="1"/>
          <p:nvPr/>
        </p:nvSpPr>
        <p:spPr>
          <a:xfrm>
            <a:off x="825192" y="2926804"/>
            <a:ext cx="980192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arenR"/>
            </a:pPr>
            <a:r>
              <a:rPr lang="en-US" sz="2800" dirty="0"/>
              <a:t>Choose one random point as first center</a:t>
            </a:r>
          </a:p>
          <a:p>
            <a:pPr marL="514350" indent="-514350">
              <a:buAutoNum type="arabicParenR"/>
            </a:pPr>
            <a:r>
              <a:rPr lang="en-US" sz="2800" dirty="0"/>
              <a:t>For each datapoint compute its distance to the nearest center</a:t>
            </a:r>
          </a:p>
          <a:p>
            <a:pPr marL="514350" indent="-514350">
              <a:buAutoNum type="arabicParenR"/>
            </a:pPr>
            <a:endParaRPr lang="en-US" sz="2800" dirty="0"/>
          </a:p>
          <a:p>
            <a:pPr marL="514350" indent="-514350">
              <a:buAutoNum type="arabicParenR"/>
            </a:pPr>
            <a:endParaRPr lang="en-US" sz="2800" dirty="0"/>
          </a:p>
          <a:p>
            <a:pPr marL="514350" indent="-514350">
              <a:buAutoNum type="arabicParenR"/>
            </a:pPr>
            <a:r>
              <a:rPr lang="en-US" sz="2800" dirty="0"/>
              <a:t>Choose new datapoint as a new center with probabilities proportional to  </a:t>
            </a:r>
          </a:p>
          <a:p>
            <a:pPr marL="514350" indent="-514350">
              <a:buAutoNum type="arabicParenR"/>
            </a:pPr>
            <a:r>
              <a:rPr lang="en-US" sz="2800" dirty="0"/>
              <a:t>Repeat steps 2 and 3 until K centers are found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4A773D-CE96-E4DF-8406-7E29E822E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588" y="3894915"/>
            <a:ext cx="2759006" cy="63835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0E8A2C7-0A09-C883-5239-0B18F01A1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864" y="5104926"/>
            <a:ext cx="969502" cy="4847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53209A-A4B4-E93C-13D1-BCB8EAE6D62F}"/>
              </a:ext>
            </a:extLst>
          </p:cNvPr>
          <p:cNvSpPr txBox="1"/>
          <p:nvPr/>
        </p:nvSpPr>
        <p:spPr>
          <a:xfrm>
            <a:off x="838200" y="1874430"/>
            <a:ext cx="9135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K-means ++: a special initialization procedure for K-means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33610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0817B-D982-A8AD-EDB7-8A881C57A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++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951D30-3515-A92B-2F08-B5311D637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313" y="1458493"/>
            <a:ext cx="3757834" cy="259261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37310D-09B9-6145-9B8C-2E7ABE5F7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062" y="1457215"/>
            <a:ext cx="3757835" cy="260699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362D5D-F6F8-F688-229D-319EDA0FB0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349" y="4142331"/>
            <a:ext cx="3757834" cy="261591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0A6F11A-8E1D-E1FD-956C-C3FCDA97ED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989" y="4151252"/>
            <a:ext cx="3740983" cy="260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65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C5585-5B63-BAC3-6BE5-A826455D4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Elbow heuristics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9823FA-53AD-A36C-DCFF-F2222D369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652" y="2877871"/>
            <a:ext cx="4929827" cy="38685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E1C31A-77D6-4A62-429A-FE07A8263277}"/>
              </a:ext>
            </a:extLst>
          </p:cNvPr>
          <p:cNvSpPr txBox="1"/>
          <p:nvPr/>
        </p:nvSpPr>
        <p:spPr>
          <a:xfrm>
            <a:off x="838200" y="1429078"/>
            <a:ext cx="109533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Number of clusters K is a hyperparameter, that should be provided by user. The larger K, the lower the sum of squared errors. Choose K that correspond to “elbow”: K=3 in the example.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14149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EC1FDD-A54E-47C9-7B8B-D00FDD05F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DFAE3-2CBD-982D-F1AD-91703DA73808}"/>
              </a:ext>
            </a:extLst>
          </p:cNvPr>
          <p:cNvSpPr txBox="1"/>
          <p:nvPr/>
        </p:nvSpPr>
        <p:spPr>
          <a:xfrm>
            <a:off x="838200" y="1741801"/>
            <a:ext cx="10105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General problem in K-means: it is able to find only spherical clusters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6BFC89B-5B21-AFAF-058E-FFAF80F3B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35" y="2636151"/>
            <a:ext cx="10635655" cy="362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86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E3F92-F5EF-6693-69F3-97E41E840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(Density-based spatial clustering of applications with noise)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991F3-3CA3-5F34-7CB7-21623379EB23}"/>
              </a:ext>
            </a:extLst>
          </p:cNvPr>
          <p:cNvSpPr txBox="1"/>
          <p:nvPr/>
        </p:nvSpPr>
        <p:spPr>
          <a:xfrm>
            <a:off x="838201" y="1862254"/>
            <a:ext cx="9241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General Idea: each cluster is a region of typical density that is considerably higher than outside of the cluster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70C528-EB06-604F-AF77-7A377ADB2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4507" y="3114948"/>
            <a:ext cx="2645612" cy="2920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306BD7-0C8F-77C5-8664-6757714CD822}"/>
              </a:ext>
            </a:extLst>
          </p:cNvPr>
          <p:cNvSpPr txBox="1"/>
          <p:nvPr/>
        </p:nvSpPr>
        <p:spPr>
          <a:xfrm>
            <a:off x="838200" y="3210643"/>
            <a:ext cx="749595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Two parameters:</a:t>
            </a:r>
          </a:p>
          <a:p>
            <a:pPr marL="342900" indent="-342900">
              <a:buAutoNum type="arabicParenR"/>
            </a:pPr>
            <a:r>
              <a:rPr lang="en-US" sz="2800" b="1" dirty="0" err="1"/>
              <a:t>MinPts</a:t>
            </a:r>
            <a:r>
              <a:rPr lang="en-US" sz="2800" dirty="0"/>
              <a:t> – minimum number of points clustered together for a region to be considered dense</a:t>
            </a:r>
          </a:p>
          <a:p>
            <a:pPr marL="342900" indent="-342900">
              <a:buAutoNum type="arabicParenR"/>
            </a:pPr>
            <a:r>
              <a:rPr lang="en-US" sz="2800" b="1" dirty="0"/>
              <a:t>Eps</a:t>
            </a:r>
            <a:r>
              <a:rPr lang="en-US" sz="2800" dirty="0"/>
              <a:t> – a distance to locate points in vicinity of other points</a:t>
            </a:r>
          </a:p>
          <a:p>
            <a:pPr marL="342900" indent="-342900"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3695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97FA0-2D58-7FEB-4B22-8079F16F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D272E7-5BA0-C968-2836-A9D9A5C18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794" y="3184187"/>
            <a:ext cx="5491354" cy="3537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BE4593-127E-5B4C-556A-FA4D39D0B40B}"/>
              </a:ext>
            </a:extLst>
          </p:cNvPr>
          <p:cNvSpPr txBox="1"/>
          <p:nvPr/>
        </p:nvSpPr>
        <p:spPr>
          <a:xfrm>
            <a:off x="838200" y="1690688"/>
            <a:ext cx="913609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Core point:</a:t>
            </a:r>
            <a:r>
              <a:rPr lang="en-US" sz="2800" dirty="0"/>
              <a:t> there are at least </a:t>
            </a:r>
            <a:r>
              <a:rPr lang="en-US" sz="2800" dirty="0" err="1"/>
              <a:t>MinPts</a:t>
            </a:r>
            <a:r>
              <a:rPr lang="en-US" sz="2800" dirty="0"/>
              <a:t> points with distance Eps</a:t>
            </a:r>
          </a:p>
          <a:p>
            <a:r>
              <a:rPr lang="en-US" sz="2800" b="1" dirty="0"/>
              <a:t>Border point:</a:t>
            </a:r>
            <a:r>
              <a:rPr lang="en-US" sz="2800" dirty="0"/>
              <a:t> there is a least one core point with distance Eps</a:t>
            </a:r>
          </a:p>
          <a:p>
            <a:r>
              <a:rPr lang="en-US" sz="2800" b="1" dirty="0"/>
              <a:t>Noise point:</a:t>
            </a:r>
            <a:r>
              <a:rPr lang="en-US" sz="2800" dirty="0"/>
              <a:t> neither Core nor Border point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45698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E2448-BFD1-8BCF-12E9-106AE7ED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A20F3-FE24-529A-A36C-B3561E1BF3B8}"/>
              </a:ext>
            </a:extLst>
          </p:cNvPr>
          <p:cNvSpPr txBox="1"/>
          <p:nvPr/>
        </p:nvSpPr>
        <p:spPr>
          <a:xfrm>
            <a:off x="838200" y="1605516"/>
            <a:ext cx="76253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Choose arbitrary point from 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If there are at least </a:t>
            </a:r>
            <a:r>
              <a:rPr lang="en-US" sz="2800" dirty="0" err="1"/>
              <a:t>MinPts</a:t>
            </a:r>
            <a:r>
              <a:rPr lang="en-US" sz="2800" dirty="0"/>
              <a:t> points with Eps distance to the current point than all these points belong to the same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Clusters are then expanded by recursively finding neighborhood for each neighboring points</a:t>
            </a:r>
          </a:p>
          <a:p>
            <a:pPr marL="514350" indent="-514350">
              <a:buFont typeface="+mj-lt"/>
              <a:buAutoNum type="arabicPeriod"/>
            </a:pP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9A2C0C-28C9-FDC8-EC66-3617D42C1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516" y="1605516"/>
            <a:ext cx="3198628" cy="35444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8A4685-2774-DDE3-0D19-4706C3C1C47E}"/>
              </a:ext>
            </a:extLst>
          </p:cNvPr>
          <p:cNvSpPr txBox="1"/>
          <p:nvPr/>
        </p:nvSpPr>
        <p:spPr>
          <a:xfrm>
            <a:off x="838200" y="4990874"/>
            <a:ext cx="2240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hlinkClick r:id="rId3"/>
              </a:rPr>
              <a:t>DBScan</a:t>
            </a:r>
            <a:r>
              <a:rPr lang="en-US" sz="2800" dirty="0">
                <a:hlinkClick r:id="rId3"/>
              </a:rPr>
              <a:t> demo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43044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ABF7E-5D8B-7B62-2FB4-085D564AF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computational complexity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DA0554-0490-040F-EF89-CFCD2A5A916A}"/>
              </a:ext>
            </a:extLst>
          </p:cNvPr>
          <p:cNvSpPr txBox="1"/>
          <p:nvPr/>
        </p:nvSpPr>
        <p:spPr>
          <a:xfrm>
            <a:off x="838200" y="1783039"/>
            <a:ext cx="109533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the worst case we need to analyze for all data points all its neighbors. In terms of N the complexity becomes O(N*N)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17907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3FF373-D8BD-673F-9292-BE4A8F234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parameters in DBSCAN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8CCBF3-7D06-3C8A-58E1-E98798B5D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556" y="4028007"/>
            <a:ext cx="5518671" cy="2486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1BB071-B300-A012-A965-A0DF39B35C0F}"/>
              </a:ext>
            </a:extLst>
          </p:cNvPr>
          <p:cNvSpPr txBox="1"/>
          <p:nvPr/>
        </p:nvSpPr>
        <p:spPr>
          <a:xfrm>
            <a:off x="838201" y="1690568"/>
            <a:ext cx="1067686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Recommendations:</a:t>
            </a:r>
          </a:p>
          <a:p>
            <a:pPr marL="342900" indent="-342900">
              <a:buAutoNum type="arabicParenR"/>
            </a:pPr>
            <a:r>
              <a:rPr lang="en-US" sz="2800" dirty="0" err="1"/>
              <a:t>MinPts</a:t>
            </a:r>
            <a:r>
              <a:rPr lang="en-US" sz="2800" dirty="0"/>
              <a:t> = 2*dimensionality</a:t>
            </a:r>
          </a:p>
          <a:p>
            <a:pPr marL="342900" indent="-342900">
              <a:buAutoNum type="arabicParenR"/>
            </a:pPr>
            <a:r>
              <a:rPr lang="en-US" sz="2800" dirty="0"/>
              <a:t>Eps: compute </a:t>
            </a:r>
            <a:r>
              <a:rPr lang="en-US" sz="2800" dirty="0" err="1"/>
              <a:t>MinPts</a:t>
            </a:r>
            <a:r>
              <a:rPr lang="en-US" sz="2800" dirty="0"/>
              <a:t>-neighbor distance for all points, sort them and apply elbow heuristics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458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D975C-B588-639C-2012-0D726991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vs. K-means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0118D8-3B8C-4B0C-7BDB-07F4C06F7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525" y="4003436"/>
            <a:ext cx="8185501" cy="27910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3C1C5-2DCD-664E-C208-76B0BFCFDFB4}"/>
              </a:ext>
            </a:extLst>
          </p:cNvPr>
          <p:cNvSpPr txBox="1"/>
          <p:nvPr/>
        </p:nvSpPr>
        <p:spPr>
          <a:xfrm>
            <a:off x="838200" y="1613118"/>
            <a:ext cx="653595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DBSCAN: </a:t>
            </a:r>
          </a:p>
          <a:p>
            <a:pPr marL="342900" indent="-342900">
              <a:buAutoNum type="arabicParenR"/>
            </a:pPr>
            <a:r>
              <a:rPr lang="en-US" sz="2800" dirty="0"/>
              <a:t>is able to find non-spherical clusters</a:t>
            </a:r>
          </a:p>
          <a:p>
            <a:pPr marL="342900" indent="-342900">
              <a:buAutoNum type="arabicParenR"/>
            </a:pPr>
            <a:r>
              <a:rPr lang="en-US" sz="2800" dirty="0"/>
              <a:t>automatically find the number of clusters</a:t>
            </a:r>
          </a:p>
          <a:p>
            <a:pPr marL="342900" indent="-342900">
              <a:buAutoNum type="arabicParenR"/>
            </a:pPr>
            <a:r>
              <a:rPr lang="en-US" sz="2800" dirty="0"/>
              <a:t>is able to find noise datapoints</a:t>
            </a:r>
          </a:p>
          <a:p>
            <a:pPr marL="342900" indent="-342900">
              <a:buAutoNum type="arabicParenR"/>
            </a:pPr>
            <a:r>
              <a:rPr lang="en-US" sz="2800" dirty="0"/>
              <a:t>much slower on large datasets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717629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EB022-561E-8D12-E0C7-FB4BFFDAA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DBSCAN (HDBSCAN)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85F73-2439-5CF4-510A-E93E6F6D2D1B}"/>
              </a:ext>
            </a:extLst>
          </p:cNvPr>
          <p:cNvSpPr txBox="1"/>
          <p:nvPr/>
        </p:nvSpPr>
        <p:spPr>
          <a:xfrm>
            <a:off x="838200" y="1783039"/>
            <a:ext cx="109533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DBSCAN: use the same Eps for all clusters =&gt; may have problems, when clusters have different densities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4C74E-F08E-2CDE-35F4-547581060004}"/>
              </a:ext>
            </a:extLst>
          </p:cNvPr>
          <p:cNvSpPr txBox="1"/>
          <p:nvPr/>
        </p:nvSpPr>
        <p:spPr>
          <a:xfrm>
            <a:off x="838200" y="3176273"/>
            <a:ext cx="723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HDBSCAN: use the mutual reachability distance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8C6386F-A470-552A-B2E6-3AD9C4900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541" y="3832944"/>
            <a:ext cx="5891604" cy="42986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EB4C745-91DA-C4DF-8407-B5B8DE759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541" y="4496455"/>
            <a:ext cx="922442" cy="32512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53FEB3-1221-32A3-C1FD-1FE3C7404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540" y="4975232"/>
            <a:ext cx="1298349" cy="4298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CC1935-B0CE-567E-734A-788DD759831A}"/>
              </a:ext>
            </a:extLst>
          </p:cNvPr>
          <p:cNvSpPr txBox="1"/>
          <p:nvPr/>
        </p:nvSpPr>
        <p:spPr>
          <a:xfrm>
            <a:off x="3782983" y="4355508"/>
            <a:ext cx="3489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Euclidean distance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60AC7C-E508-6DA3-8BB3-0CB2A13B6B71}"/>
              </a:ext>
            </a:extLst>
          </p:cNvPr>
          <p:cNvSpPr txBox="1"/>
          <p:nvPr/>
        </p:nvSpPr>
        <p:spPr>
          <a:xfrm>
            <a:off x="4156940" y="4912374"/>
            <a:ext cx="5339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Distance to k-</a:t>
            </a:r>
            <a:r>
              <a:rPr lang="en-US" sz="2800" dirty="0" err="1"/>
              <a:t>th</a:t>
            </a:r>
            <a:r>
              <a:rPr lang="en-US" sz="2800" dirty="0"/>
              <a:t> nearest neighbor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0E7552-4864-4E6B-9AFF-7AC4CE88107E}"/>
              </a:ext>
            </a:extLst>
          </p:cNvPr>
          <p:cNvSpPr txBox="1"/>
          <p:nvPr/>
        </p:nvSpPr>
        <p:spPr>
          <a:xfrm>
            <a:off x="882620" y="5624802"/>
            <a:ext cx="785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Computational complexity in HDBSCAN: O(N*log N)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20251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EB022-561E-8D12-E0C7-FB4BFFDAA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DBSCAN (HDBSCAN)</a:t>
            </a:r>
            <a:endParaRPr lang="ru-RU" dirty="0"/>
          </a:p>
        </p:txBody>
      </p:sp>
      <p:pic>
        <p:nvPicPr>
          <p:cNvPr id="6" name="Рисунок 5" descr="Изображение выглядит как снимок экрана,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3B6C002-DAA9-F43E-607A-A1C1CE0EA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8" y="2328862"/>
            <a:ext cx="3960453" cy="3309909"/>
          </a:xfrm>
          <a:prstGeom prst="rect">
            <a:avLst/>
          </a:prstGeom>
        </p:spPr>
      </p:pic>
      <p:pic>
        <p:nvPicPr>
          <p:cNvPr id="8" name="Рисунок 7" descr="Изображение выглядит как снимок экрана, текст, диаграмма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30C5856-B4D9-A02C-B07D-4FB2FD27F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229" y="2309813"/>
            <a:ext cx="3874724" cy="3281362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117FE3F-CDE3-7BA3-0450-03EDCCEEC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855" y="2347913"/>
            <a:ext cx="3874724" cy="329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59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49C8-C855-269B-8AFD-5D1F38BF4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D2B5A-162D-DD1A-6F63-E7E5C674D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471" y="505666"/>
            <a:ext cx="10862931" cy="3056232"/>
          </a:xfrm>
        </p:spPr>
        <p:txBody>
          <a:bodyPr>
            <a:normAutofit/>
          </a:bodyPr>
          <a:lstStyle/>
          <a:p>
            <a:r>
              <a:rPr lang="en-US" dirty="0"/>
              <a:t>PCA: Principal component analysis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7046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FCF6B-22D9-B0D7-D97E-A2B7A1700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B65C3A-CCB9-2F20-D470-F1910E6C8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33" y="1492874"/>
            <a:ext cx="2657135" cy="523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40F8A7-EC75-1FCC-AB5D-D82FFEC1B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908" y="3423490"/>
            <a:ext cx="4410669" cy="4827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F71E05-BFAF-F340-171F-70C56C1AF7E8}"/>
              </a:ext>
            </a:extLst>
          </p:cNvPr>
          <p:cNvSpPr txBox="1"/>
          <p:nvPr/>
        </p:nvSpPr>
        <p:spPr>
          <a:xfrm>
            <a:off x="903765" y="1520446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Dataset: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FF162E-938C-D41E-D682-60D1C89791CB}"/>
              </a:ext>
            </a:extLst>
          </p:cNvPr>
          <p:cNvSpPr txBox="1"/>
          <p:nvPr/>
        </p:nvSpPr>
        <p:spPr>
          <a:xfrm>
            <a:off x="894899" y="2429927"/>
            <a:ext cx="109285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Goal: find lower-dimensional data representation, that preserves the properties of the original dataset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762826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A50F4-74AE-E5D3-F687-2E5ABC3E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B006C-9958-BAB7-E3BE-7665CB7A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86BB91-0F58-B07C-0AAE-7C58CDD4997E}"/>
              </a:ext>
            </a:extLst>
          </p:cNvPr>
          <p:cNvSpPr txBox="1"/>
          <p:nvPr/>
        </p:nvSpPr>
        <p:spPr>
          <a:xfrm>
            <a:off x="455426" y="1413558"/>
            <a:ext cx="11591260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Idea: let’s consider a projection of data to lower-dimensional linear subspace, that minimizes the total projection length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91E92-329F-6E22-42CE-6508847FA3E8}"/>
              </a:ext>
            </a:extLst>
          </p:cNvPr>
          <p:cNvSpPr txBox="1"/>
          <p:nvPr/>
        </p:nvSpPr>
        <p:spPr>
          <a:xfrm>
            <a:off x="455426" y="2497764"/>
            <a:ext cx="11591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Equivalent formulation: find a projection of data with the largest variance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D323A0-76BB-AFB0-0F80-E01EAE83D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20" y="3151084"/>
            <a:ext cx="9199750" cy="3679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91AFCA-6544-0E58-17B3-EC323C24A218}"/>
              </a:ext>
            </a:extLst>
          </p:cNvPr>
          <p:cNvSpPr txBox="1"/>
          <p:nvPr/>
        </p:nvSpPr>
        <p:spPr>
          <a:xfrm>
            <a:off x="7970873" y="3575407"/>
            <a:ext cx="3978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the example D=2, d=1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67507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7E02-B26D-599A-A744-B4F579B4D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C1FC0D-7AA4-1926-C397-F98A776D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1FCF69-09C9-8CE5-812A-1F583B94E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985" y="1564762"/>
            <a:ext cx="1558432" cy="46066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441E93F-6DDA-85B9-BA90-076DEA3C6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456" y="1519886"/>
            <a:ext cx="3238544" cy="52321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D2B2069-9686-7E16-1FBF-7359B3663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913" y="2670218"/>
            <a:ext cx="2767203" cy="8874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3A11CA-F03F-A28E-58F1-AD3815F3D075}"/>
              </a:ext>
            </a:extLst>
          </p:cNvPr>
          <p:cNvSpPr txBox="1"/>
          <p:nvPr/>
        </p:nvSpPr>
        <p:spPr>
          <a:xfrm>
            <a:off x="870097" y="1487987"/>
            <a:ext cx="6317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set of basis vectors for linear subspace: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17FF28-5C89-6BF5-2396-4D8DED554D12}"/>
              </a:ext>
            </a:extLst>
          </p:cNvPr>
          <p:cNvSpPr txBox="1"/>
          <p:nvPr/>
        </p:nvSpPr>
        <p:spPr>
          <a:xfrm>
            <a:off x="880732" y="2150864"/>
            <a:ext cx="10761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Any point on a d-dimensional hyperplane can be represented as follows: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F49AFD-228D-2B55-DD9B-668CE8E133E4}"/>
              </a:ext>
            </a:extLst>
          </p:cNvPr>
          <p:cNvSpPr txBox="1"/>
          <p:nvPr/>
        </p:nvSpPr>
        <p:spPr>
          <a:xfrm>
            <a:off x="880732" y="3607820"/>
            <a:ext cx="9283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Finding projection of given datapoint      to the hyperplane:</a:t>
            </a:r>
            <a:endParaRPr lang="ru-RU" sz="28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C735142-E325-E769-CF08-2B2029EF5E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401" y="3680000"/>
            <a:ext cx="423663" cy="40012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C23C368-0820-70DD-AE42-A51F0D3DFA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561" y="4190657"/>
            <a:ext cx="3195808" cy="62588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EF809F-6A9B-6EAF-BD26-F42CCF4D5955}"/>
              </a:ext>
            </a:extLst>
          </p:cNvPr>
          <p:cNvSpPr txBox="1"/>
          <p:nvPr/>
        </p:nvSpPr>
        <p:spPr>
          <a:xfrm>
            <a:off x="880732" y="4816543"/>
            <a:ext cx="6158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Using the result from linear regression:</a:t>
            </a:r>
            <a:endParaRPr lang="ru-RU" sz="28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7DBEE0A-A84C-8ACE-A029-A3EBD7CF63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140" y="4819562"/>
            <a:ext cx="3229530" cy="52322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0F531CD-58BA-606A-4BFD-A3ED022463BA}"/>
              </a:ext>
            </a:extLst>
          </p:cNvPr>
          <p:cNvSpPr txBox="1"/>
          <p:nvPr/>
        </p:nvSpPr>
        <p:spPr>
          <a:xfrm>
            <a:off x="880732" y="5502046"/>
            <a:ext cx="9283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Assuming orthogonal basis                 , we get</a:t>
            </a:r>
            <a:endParaRPr lang="ru-RU" sz="28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47AC8D5-A4B0-2325-64E0-3D31F17AD4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790" y="5509661"/>
            <a:ext cx="1233114" cy="47018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E323F46-BAC4-3C31-F32C-C5E2B64A96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648" y="5488395"/>
            <a:ext cx="2035280" cy="51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27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5A3FA-B50F-0552-41FE-29D225B3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4757B-1DBD-8CB0-36E5-45E38F79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F2587D-329D-116A-9E54-38414FC65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85" y="2540191"/>
            <a:ext cx="8516202" cy="968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03BD35-5D1C-8F52-6CB3-866E7CC99DAB}"/>
              </a:ext>
            </a:extLst>
          </p:cNvPr>
          <p:cNvSpPr txBox="1"/>
          <p:nvPr/>
        </p:nvSpPr>
        <p:spPr>
          <a:xfrm>
            <a:off x="848833" y="2070136"/>
            <a:ext cx="3638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Total projection length: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349A66-C78D-EC3B-F7E3-175FE6500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114" y="3522884"/>
            <a:ext cx="7867877" cy="84419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8183C6D-E7BC-12DF-E535-263D1BD428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709" y="4444686"/>
            <a:ext cx="4913635" cy="84419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B3C561D-CCFF-2FC5-3A41-CA43F60B95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510" y="5289056"/>
            <a:ext cx="5612653" cy="82574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AAC9DF3-C683-0D4B-EDBE-C42455513C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344" y="1341346"/>
            <a:ext cx="2035280" cy="51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89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F601-195F-1DFF-D97F-81E3F06C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3C2B1-CBAC-DFE5-A436-05F129818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6B9BDE-2C9B-C653-7B6F-3808FEFA7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94" y="1437635"/>
            <a:ext cx="6977822" cy="92279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29C35C-ABE8-A357-6B08-3E12D0A94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79" y="2454037"/>
            <a:ext cx="8305125" cy="92279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8E5E8F6-53A2-6FBF-C45B-7C9C893E33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67" y="3376829"/>
            <a:ext cx="4128907" cy="92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73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7F6F-9DBE-D8A3-F50F-F530AF50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B135F4-A487-88C3-0AC6-D056C720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8ADC55-46FD-2BFD-632C-BEA06B001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063" y="1412781"/>
            <a:ext cx="935452" cy="523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58A271-E6E7-10ED-A32F-BEFBABC25485}"/>
              </a:ext>
            </a:extLst>
          </p:cNvPr>
          <p:cNvSpPr txBox="1"/>
          <p:nvPr/>
        </p:nvSpPr>
        <p:spPr>
          <a:xfrm>
            <a:off x="455426" y="1413558"/>
            <a:ext cx="6657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simplicity let’s consider the special case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188CB5D-8544-20C2-9CEC-BD9928B04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24" y="2008181"/>
            <a:ext cx="5824371" cy="94513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0DA4784-5612-59C9-3985-100058B18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56" y="3082793"/>
            <a:ext cx="5082242" cy="82998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F19899E-1B7C-1393-AFA2-E44C748786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428" y="3039397"/>
            <a:ext cx="5824371" cy="86994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A5CEA83-FB91-555D-A70C-45B0B1D499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972" y="3867672"/>
            <a:ext cx="3383357" cy="9701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E00BA0D-06D6-1E46-013D-84C4C4802F69}"/>
              </a:ext>
            </a:extLst>
          </p:cNvPr>
          <p:cNvSpPr txBox="1"/>
          <p:nvPr/>
        </p:nvSpPr>
        <p:spPr>
          <a:xfrm>
            <a:off x="529856" y="4063526"/>
            <a:ext cx="4127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Sample covariance matrix: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563134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9D89-48C0-289E-299B-00115EE5B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CEF17-EECB-F1B5-0C95-12DF171F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18A0A2-CF9E-2E31-EF8A-5B3D9C542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62682"/>
            <a:ext cx="4571697" cy="7977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7A5CBB-0E51-3B18-0FFC-03CB743CD8EE}"/>
              </a:ext>
            </a:extLst>
          </p:cNvPr>
          <p:cNvSpPr txBox="1"/>
          <p:nvPr/>
        </p:nvSpPr>
        <p:spPr>
          <a:xfrm>
            <a:off x="827564" y="2456512"/>
            <a:ext cx="2946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Lagrange function: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C95AEF-9D93-FFCB-C354-69A47767D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785" y="2503993"/>
            <a:ext cx="7673284" cy="49700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A3D809F-5B47-BF04-DDAD-DC45D99B1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886" y="3144563"/>
            <a:ext cx="5062738" cy="4942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43F8DC-D008-AF66-569D-4F21D664D1DC}"/>
              </a:ext>
            </a:extLst>
          </p:cNvPr>
          <p:cNvSpPr txBox="1"/>
          <p:nvPr/>
        </p:nvSpPr>
        <p:spPr>
          <a:xfrm>
            <a:off x="870096" y="3771714"/>
            <a:ext cx="7710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Hence direction p is eigenvector of the matrix S</a:t>
            </a:r>
            <a:endParaRPr lang="ru-RU" sz="28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FD09D97-A8D7-71B4-548F-764D288AA7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90" y="4310919"/>
            <a:ext cx="7074793" cy="93123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19648E-CB69-57A0-B3F8-E28872E0F0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462" y="5420229"/>
            <a:ext cx="1468990" cy="45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599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EBE5-388D-5B64-9221-A6CA429D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9868A-19CC-6943-B219-9BC76FE3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F9B4D-133F-04D9-8CCA-BFBEC108EF2B}"/>
              </a:ext>
            </a:extLst>
          </p:cNvPr>
          <p:cNvSpPr txBox="1"/>
          <p:nvPr/>
        </p:nvSpPr>
        <p:spPr>
          <a:xfrm>
            <a:off x="838200" y="1429078"/>
            <a:ext cx="4127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General case: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DEB6A1-198E-4306-AC4F-01CACDF58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288" y="1377836"/>
            <a:ext cx="2502817" cy="6257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6AEF1D-E1E4-267C-97FD-418257D5A553}"/>
              </a:ext>
            </a:extLst>
          </p:cNvPr>
          <p:cNvSpPr txBox="1"/>
          <p:nvPr/>
        </p:nvSpPr>
        <p:spPr>
          <a:xfrm>
            <a:off x="848833" y="2215712"/>
            <a:ext cx="102090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Here       are eigenvectors of the sample covariance matrix, that correspond to its largest eigenvalues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1DAE5A6-7A16-7853-C716-7306292A1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572" y="2251435"/>
            <a:ext cx="503206" cy="50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29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E896-04F6-4C5C-8341-EDD353D8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FAE192-5E68-6167-6504-48CE5F56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66B55-D821-3D6D-BA4F-9B1B01EFCB35}"/>
              </a:ext>
            </a:extLst>
          </p:cNvPr>
          <p:cNvSpPr txBox="1"/>
          <p:nvPr/>
        </p:nvSpPr>
        <p:spPr>
          <a:xfrm>
            <a:off x="838200" y="1690688"/>
            <a:ext cx="1458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Dataset: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6C6C13-E288-C918-3F1C-9A0AEBFA7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367" y="1669129"/>
            <a:ext cx="1954099" cy="5447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EE990D-55F0-D98D-F8EA-5397BF09764D}"/>
              </a:ext>
            </a:extLst>
          </p:cNvPr>
          <p:cNvSpPr txBox="1"/>
          <p:nvPr/>
        </p:nvSpPr>
        <p:spPr>
          <a:xfrm>
            <a:off x="838200" y="2471472"/>
            <a:ext cx="7412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Compute sample mean and sample covariance: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DC87C0D-3868-9B9A-ADA9-3D86A8BC5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966" y="3082693"/>
            <a:ext cx="1668339" cy="87043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6CE33F6-F896-4CFE-AFFA-7AEEC104BF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304" y="3087448"/>
            <a:ext cx="4513379" cy="8704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437E04-E0CE-93AB-6A70-B60A7925150F}"/>
              </a:ext>
            </a:extLst>
          </p:cNvPr>
          <p:cNvSpPr txBox="1"/>
          <p:nvPr/>
        </p:nvSpPr>
        <p:spPr>
          <a:xfrm>
            <a:off x="838200" y="4050641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Find all eigenvalues and eigenvectors of the matrix S</a:t>
            </a:r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B6F048-049F-95D3-BE8C-6A714D87F6BF}"/>
              </a:ext>
            </a:extLst>
          </p:cNvPr>
          <p:cNvSpPr txBox="1"/>
          <p:nvPr/>
        </p:nvSpPr>
        <p:spPr>
          <a:xfrm>
            <a:off x="838200" y="4747469"/>
            <a:ext cx="106343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3. P – the matrix, that is constructed from d eigenvectors corresponding to the largest d eigenvalues</a:t>
            </a: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E758EA-2CE4-47A1-6F0A-B2A64B4ADD44}"/>
              </a:ext>
            </a:extLst>
          </p:cNvPr>
          <p:cNvSpPr txBox="1"/>
          <p:nvPr/>
        </p:nvSpPr>
        <p:spPr>
          <a:xfrm>
            <a:off x="838200" y="5843028"/>
            <a:ext cx="3149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4. Make projection:</a:t>
            </a:r>
            <a:endParaRPr lang="ru-RU" sz="2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783D946-ABD1-7C4A-1D97-E245BC03ED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970" y="5832652"/>
            <a:ext cx="2035280" cy="51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05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A83C9-F9DB-EA6F-AFD2-20F965F8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computational complexity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6B997D-1F41-5197-D6F2-5D00E8016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915" y="1489716"/>
            <a:ext cx="1668339" cy="87043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1D6A8-4613-31C1-8DA3-9F94D1AC0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815" y="2546763"/>
            <a:ext cx="4513379" cy="87043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B5E2C15-F5EF-B02B-6192-3C6FCAA568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370" y="4621630"/>
            <a:ext cx="2035280" cy="515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0DFE2A-2F5D-CAE5-3F83-5057C9EF97B4}"/>
              </a:ext>
            </a:extLst>
          </p:cNvPr>
          <p:cNvSpPr txBox="1"/>
          <p:nvPr/>
        </p:nvSpPr>
        <p:spPr>
          <a:xfrm>
            <a:off x="838200" y="1635961"/>
            <a:ext cx="359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Sample mean: O(N*D)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B003B2-9B31-40FE-DC6A-0CC940C4A2A6}"/>
              </a:ext>
            </a:extLst>
          </p:cNvPr>
          <p:cNvSpPr txBox="1"/>
          <p:nvPr/>
        </p:nvSpPr>
        <p:spPr>
          <a:xfrm>
            <a:off x="838200" y="2699914"/>
            <a:ext cx="605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Sample covariance matrix: O(N*D*D)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39F68-8A85-7F78-4D7D-68A11A5BBF37}"/>
              </a:ext>
            </a:extLst>
          </p:cNvPr>
          <p:cNvSpPr txBox="1"/>
          <p:nvPr/>
        </p:nvSpPr>
        <p:spPr>
          <a:xfrm>
            <a:off x="838200" y="3709140"/>
            <a:ext cx="75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Eigenvalue decomposition of matrix S: O(D*D*D)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BCE4C7-7380-F104-ACE3-CDEA9F551D6D}"/>
              </a:ext>
            </a:extLst>
          </p:cNvPr>
          <p:cNvSpPr txBox="1"/>
          <p:nvPr/>
        </p:nvSpPr>
        <p:spPr>
          <a:xfrm>
            <a:off x="847725" y="4633065"/>
            <a:ext cx="626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Projection for all datapoints: O(N*D*d)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787680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A83C9-F9DB-EA6F-AFD2-20F965F8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properties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DFE2A-2F5D-CAE5-3F83-5057C9EF97B4}"/>
              </a:ext>
            </a:extLst>
          </p:cNvPr>
          <p:cNvSpPr txBox="1"/>
          <p:nvPr/>
        </p:nvSpPr>
        <p:spPr>
          <a:xfrm>
            <a:off x="838199" y="1931236"/>
            <a:ext cx="102393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PCA is sensitive to data scale (if some feature has high variance, then it can suppress others). Solution: data normalization before PCA.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E14E1-65D6-20B2-89A5-24F5BEEBE100}"/>
              </a:ext>
            </a:extLst>
          </p:cNvPr>
          <p:cNvSpPr txBox="1"/>
          <p:nvPr/>
        </p:nvSpPr>
        <p:spPr>
          <a:xfrm>
            <a:off x="838198" y="3359986"/>
            <a:ext cx="102393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After PCA data becomes non-correlated (covariance matrix is unity matrix). Can be useful as preprocessing step in different algorithms, e.g. before applying linear regression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874526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84FD6-8B57-29F8-A6D6-787DE9807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63C6AB-1855-4B4C-8083-077A6F206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332" y="2606040"/>
            <a:ext cx="6567276" cy="39822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0FE593-4670-23D6-F23D-0994C56B8EC6}"/>
              </a:ext>
            </a:extLst>
          </p:cNvPr>
          <p:cNvSpPr txBox="1"/>
          <p:nvPr/>
        </p:nvSpPr>
        <p:spPr>
          <a:xfrm>
            <a:off x="838200" y="1690688"/>
            <a:ext cx="7412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Choose the dimension </a:t>
            </a:r>
            <a:r>
              <a:rPr lang="en-US" sz="2800" i="1" dirty="0"/>
              <a:t>d</a:t>
            </a:r>
            <a:r>
              <a:rPr lang="en-US" sz="2800" dirty="0"/>
              <a:t> by elbow heuristics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095328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B4509-16DA-EB52-9335-686E0CCF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DC006E-2952-2D6D-C1B5-1C1CE9687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636" y="1058565"/>
            <a:ext cx="10384465" cy="3056232"/>
          </a:xfrm>
        </p:spPr>
        <p:txBody>
          <a:bodyPr>
            <a:normAutofit/>
          </a:bodyPr>
          <a:lstStyle/>
          <a:p>
            <a:r>
              <a:rPr lang="en-US" dirty="0"/>
              <a:t>T-SNE: non-linear data visualization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4400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BDE632-6135-C613-7649-83540E831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19CF2D-D791-EF73-67C6-53AC666B9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210" y="3117445"/>
            <a:ext cx="7398657" cy="357745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2954CD-56B1-F310-E076-E5AF8095E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699" y="1435384"/>
            <a:ext cx="1251112" cy="625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B61699-A8AC-2098-15BD-C8C65FC88379}"/>
              </a:ext>
            </a:extLst>
          </p:cNvPr>
          <p:cNvSpPr txBox="1"/>
          <p:nvPr/>
        </p:nvSpPr>
        <p:spPr>
          <a:xfrm>
            <a:off x="903765" y="1499182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Dataset: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0C1E7D-B175-D460-6152-F033D0770D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064" y="2135372"/>
            <a:ext cx="1937517" cy="4953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F29A6B-4B51-4A85-A08C-54DBB86AFCA9}"/>
              </a:ext>
            </a:extLst>
          </p:cNvPr>
          <p:cNvSpPr txBox="1"/>
          <p:nvPr/>
        </p:nvSpPr>
        <p:spPr>
          <a:xfrm>
            <a:off x="903765" y="2142456"/>
            <a:ext cx="949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Goal: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9295BD-E3C4-0835-EFDF-2449979DE7DB}"/>
              </a:ext>
            </a:extLst>
          </p:cNvPr>
          <p:cNvSpPr txBox="1"/>
          <p:nvPr/>
        </p:nvSpPr>
        <p:spPr>
          <a:xfrm>
            <a:off x="4852892" y="1430660"/>
            <a:ext cx="71938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Distribution of distances in y space is similar to distribution of distances in initial D dimensional space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88230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9F883-9E63-7D8E-7973-5E4BEC712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T-SNE (t-distributed Stochastic Neighbor Embedding)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33410-15FC-EC2A-0FBA-10AD967CDAF3}"/>
              </a:ext>
            </a:extLst>
          </p:cNvPr>
          <p:cNvSpPr txBox="1"/>
          <p:nvPr/>
        </p:nvSpPr>
        <p:spPr>
          <a:xfrm>
            <a:off x="838200" y="1975755"/>
            <a:ext cx="6199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Distribution of distances for initial points: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7AD41-2394-09BB-9833-4DE7BE2032B0}"/>
              </a:ext>
            </a:extLst>
          </p:cNvPr>
          <p:cNvSpPr txBox="1"/>
          <p:nvPr/>
        </p:nvSpPr>
        <p:spPr>
          <a:xfrm>
            <a:off x="832883" y="3826032"/>
            <a:ext cx="7807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Distribution of distances for low-dimensional points: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944AB4E-9188-0E03-BC61-D0262ECF8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499" y="2561083"/>
            <a:ext cx="5149551" cy="89981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275406D-0F71-EC3F-DAF9-7CB3D2A35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047" y="4474824"/>
            <a:ext cx="4395769" cy="96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47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64FF3-2B09-5B58-C34F-484820C1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KL-divergence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2DE8B8-FB22-7B70-232F-88A2C03CE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907" y="1881395"/>
            <a:ext cx="802093" cy="48125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928B52-DF0D-8EC6-BC2A-CF9D3CF82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454" y="1850066"/>
            <a:ext cx="744135" cy="523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04C26C-E90A-6A03-EDA8-17ADD54190EC}"/>
              </a:ext>
            </a:extLst>
          </p:cNvPr>
          <p:cNvSpPr txBox="1"/>
          <p:nvPr/>
        </p:nvSpPr>
        <p:spPr>
          <a:xfrm>
            <a:off x="838200" y="1839431"/>
            <a:ext cx="6068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Two probability distributions:             and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42F2253-D975-9E36-1E6C-47E072BF4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047" y="2393852"/>
            <a:ext cx="4032365" cy="9523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ADC257-91A5-2148-2206-FBB87DC795F1}"/>
              </a:ext>
            </a:extLst>
          </p:cNvPr>
          <p:cNvSpPr txBox="1"/>
          <p:nvPr/>
        </p:nvSpPr>
        <p:spPr>
          <a:xfrm>
            <a:off x="838200" y="2596679"/>
            <a:ext cx="4256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Kullback-Leibler</a:t>
            </a:r>
            <a:r>
              <a:rPr lang="en-US" sz="2800" dirty="0"/>
              <a:t> divergence: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ABB5D67-CE5D-CCFC-143D-735861AA4F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135" y="3948344"/>
            <a:ext cx="3818860" cy="44501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0E0A972-C270-9F3F-A0D3-336253E37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933" y="4802289"/>
            <a:ext cx="3003964" cy="5139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46CFACA-D0E0-5374-4523-159C1F2A1589}"/>
              </a:ext>
            </a:extLst>
          </p:cNvPr>
          <p:cNvSpPr txBox="1"/>
          <p:nvPr/>
        </p:nvSpPr>
        <p:spPr>
          <a:xfrm>
            <a:off x="838200" y="3466061"/>
            <a:ext cx="300396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KL properties:</a:t>
            </a:r>
          </a:p>
          <a:p>
            <a:pPr marL="514350" indent="-514350">
              <a:buAutoNum type="arabicParenR"/>
            </a:pPr>
            <a:r>
              <a:rPr lang="en-US" sz="2800" dirty="0"/>
              <a:t>non-negative:</a:t>
            </a:r>
          </a:p>
          <a:p>
            <a:pPr marL="514350" indent="-514350">
              <a:buAutoNum type="arabicParenR"/>
            </a:pPr>
            <a:endParaRPr lang="en-US" sz="2800" dirty="0"/>
          </a:p>
          <a:p>
            <a:pPr marL="514350" indent="-514350">
              <a:buAutoNum type="arabicParenR"/>
            </a:pPr>
            <a:r>
              <a:rPr lang="en-US" sz="2800" dirty="0"/>
              <a:t>non-symmetric: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600767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E9B57-50C0-AF33-46F6-09DF23DC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KL asymmetry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C6F88E-48A7-8F5E-E324-802F1220A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589" y="2595231"/>
            <a:ext cx="3825792" cy="24929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653378-A24A-1F2E-2303-0DD0B601D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82" y="2982996"/>
            <a:ext cx="4525558" cy="180238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8EF8A4-F5C8-2F61-0CBC-22B7B6186B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81" y="1688569"/>
            <a:ext cx="4513375" cy="92658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C53B207-5DEF-77F4-3B05-5D66DBF680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48" y="1661571"/>
            <a:ext cx="4513376" cy="90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815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3CC02-5E41-21F7-4371-B0FD0E5A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KL from information theory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9B3E9-A66D-7F00-B396-F6C2FBBA1301}"/>
              </a:ext>
            </a:extLst>
          </p:cNvPr>
          <p:cNvSpPr txBox="1"/>
          <p:nvPr/>
        </p:nvSpPr>
        <p:spPr>
          <a:xfrm>
            <a:off x="838200" y="1690688"/>
            <a:ext cx="5398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Stream of symbols for transmission: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81CE0D-3DCF-96A0-7A1D-2BE35ADC6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370" y="1682937"/>
            <a:ext cx="2262698" cy="54160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D4CDC95-4DCA-ED03-2241-B7B32E420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638" y="2339474"/>
            <a:ext cx="1838780" cy="4268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33ADE7-2669-123F-3625-E7F34EA55509}"/>
              </a:ext>
            </a:extLst>
          </p:cNvPr>
          <p:cNvSpPr txBox="1"/>
          <p:nvPr/>
        </p:nvSpPr>
        <p:spPr>
          <a:xfrm>
            <a:off x="838200" y="2275013"/>
            <a:ext cx="6916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Need lossless compression into stream of bits: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D00FB5-0B9D-E608-58F2-018B9061EE65}"/>
              </a:ext>
            </a:extLst>
          </p:cNvPr>
          <p:cNvSpPr txBox="1"/>
          <p:nvPr/>
        </p:nvSpPr>
        <p:spPr>
          <a:xfrm>
            <a:off x="838200" y="2904896"/>
            <a:ext cx="91989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Good compression scheme: use shorter bit codes for symbols with higher probabilities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3DDBC4F-54DE-6B93-AD5C-55423014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71941"/>
            <a:ext cx="839688" cy="56802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4F73176-4E8D-1952-A45B-EC98244BC1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754717"/>
            <a:ext cx="820477" cy="4530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F8B2B7-AAEC-D3B7-809C-208F2891EA89}"/>
              </a:ext>
            </a:extLst>
          </p:cNvPr>
          <p:cNvSpPr txBox="1"/>
          <p:nvPr/>
        </p:nvSpPr>
        <p:spPr>
          <a:xfrm>
            <a:off x="1658677" y="4034570"/>
            <a:ext cx="4530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true probabilities of symbols</a:t>
            </a:r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8CE3E-290B-E96A-8657-A26562A9B385}"/>
              </a:ext>
            </a:extLst>
          </p:cNvPr>
          <p:cNvSpPr txBox="1"/>
          <p:nvPr/>
        </p:nvSpPr>
        <p:spPr>
          <a:xfrm>
            <a:off x="1684672" y="4684596"/>
            <a:ext cx="5374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estimated probabilities of symbols</a:t>
            </a:r>
            <a:endParaRPr lang="ru-RU" sz="28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5E1C207-CFCA-3178-4990-CF77640739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60" y="5260384"/>
            <a:ext cx="4032365" cy="95236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CD6F492-8D2E-BE66-752F-F401CF83921E}"/>
              </a:ext>
            </a:extLst>
          </p:cNvPr>
          <p:cNvSpPr txBox="1"/>
          <p:nvPr/>
        </p:nvSpPr>
        <p:spPr>
          <a:xfrm>
            <a:off x="4856725" y="5418087"/>
            <a:ext cx="6863207" cy="143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Difference of expected encoded message length between encoding with q(x) and optimal encoding with p(x)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602072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FC9331-6A7F-4A20-C2D6-8F34EDCE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T-SNE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657F19-F22F-8C26-B05B-113E7F777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49" y="1690688"/>
            <a:ext cx="5149551" cy="89981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3CE5D1-068C-B472-9695-46636418CF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046" y="1628580"/>
            <a:ext cx="4395769" cy="9619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29FB09A-DADB-3C57-C780-DE5838254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092" y="3604715"/>
            <a:ext cx="7327421" cy="13255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936642-F7A5-31B1-C07B-95A97412240C}"/>
              </a:ext>
            </a:extLst>
          </p:cNvPr>
          <p:cNvSpPr txBox="1"/>
          <p:nvPr/>
        </p:nvSpPr>
        <p:spPr>
          <a:xfrm>
            <a:off x="946449" y="3081495"/>
            <a:ext cx="3480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Optimization criterion: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D59D28-B5FE-659B-5D05-2A7A20B3601D}"/>
              </a:ext>
            </a:extLst>
          </p:cNvPr>
          <p:cNvSpPr txBox="1"/>
          <p:nvPr/>
        </p:nvSpPr>
        <p:spPr>
          <a:xfrm>
            <a:off x="946449" y="5257132"/>
            <a:ext cx="9085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Solve optimization problem using stochastic gradient descent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309777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4397B-23B7-BAB0-4829-0A939DE9A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parameters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FB6F69-9F22-C0B6-33B1-0CE6BB6E0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49" y="1616257"/>
            <a:ext cx="5149551" cy="899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2C6ABE-BB1D-0EE1-D88C-37CFFFD23434}"/>
              </a:ext>
            </a:extLst>
          </p:cNvPr>
          <p:cNvSpPr txBox="1"/>
          <p:nvPr/>
        </p:nvSpPr>
        <p:spPr>
          <a:xfrm>
            <a:off x="946449" y="2679403"/>
            <a:ext cx="92822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different regions of feature space it could be different density of data points hence different </a:t>
            </a:r>
            <a:r>
              <a:rPr lang="en-US" sz="2800" dirty="0" err="1"/>
              <a:t>sigmas</a:t>
            </a:r>
            <a:r>
              <a:rPr lang="en-US" sz="2800" dirty="0"/>
              <a:t> should be chosen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F72059-8B2A-75B2-E19D-1974E9ABB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49" y="4886434"/>
            <a:ext cx="3211619" cy="79334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27BE5D-A186-0B20-1F25-8CC89982A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99" y="4886434"/>
            <a:ext cx="3289005" cy="5810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D8DCE8-B919-334B-5210-E6D188B3BF30}"/>
              </a:ext>
            </a:extLst>
          </p:cNvPr>
          <p:cNvSpPr txBox="1"/>
          <p:nvPr/>
        </p:nvSpPr>
        <p:spPr>
          <a:xfrm>
            <a:off x="863010" y="5689102"/>
            <a:ext cx="10722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Perplexity can be interpreted as a smooth measure of effective number of neighbors. Sigma is chosen in a way to have a given value of perplexity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185C3-47BB-950E-D873-D7AC806E6287}"/>
              </a:ext>
            </a:extLst>
          </p:cNvPr>
          <p:cNvSpPr txBox="1"/>
          <p:nvPr/>
        </p:nvSpPr>
        <p:spPr>
          <a:xfrm>
            <a:off x="925183" y="3804734"/>
            <a:ext cx="10722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too big sigma we have a uniform distribution, for too small sigma we have a degenerate distribution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863387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1466</Words>
  <Application>Microsoft Office PowerPoint</Application>
  <PresentationFormat>Широкоэкранный</PresentationFormat>
  <Paragraphs>174</Paragraphs>
  <Slides>46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Тема Office</vt:lpstr>
      <vt:lpstr>Unsupervised learning: clustering, dimension reduction, data visualization</vt:lpstr>
      <vt:lpstr>Supervised vs. unsupervised learning</vt:lpstr>
      <vt:lpstr>Clustering</vt:lpstr>
      <vt:lpstr>Clustering applications</vt:lpstr>
      <vt:lpstr>Clustering applications</vt:lpstr>
      <vt:lpstr>Clustering metrics: Rand Index</vt:lpstr>
      <vt:lpstr>Clustering metrics: Adjusted Rand Index</vt:lpstr>
      <vt:lpstr>Clustering metrics: intra-cluster and inter-cluster distance</vt:lpstr>
      <vt:lpstr>K-means</vt:lpstr>
      <vt:lpstr>K-means</vt:lpstr>
      <vt:lpstr>K-means Illustration </vt:lpstr>
      <vt:lpstr>K-means computational complexity</vt:lpstr>
      <vt:lpstr>K-means ++</vt:lpstr>
      <vt:lpstr>K-means ++</vt:lpstr>
      <vt:lpstr>K-means ++</vt:lpstr>
      <vt:lpstr>Elbow heuristics</vt:lpstr>
      <vt:lpstr>DBSCAN</vt:lpstr>
      <vt:lpstr>DBSCAN (Density-based spatial clustering of applications with noise)</vt:lpstr>
      <vt:lpstr>DBSCAN</vt:lpstr>
      <vt:lpstr>DBSCAN</vt:lpstr>
      <vt:lpstr>DBSCAN computational complexity</vt:lpstr>
      <vt:lpstr>Choosing parameters in DBSCAN</vt:lpstr>
      <vt:lpstr>DBSCAN vs. K-means</vt:lpstr>
      <vt:lpstr>Hierarchical DBSCAN (HDBSCAN)</vt:lpstr>
      <vt:lpstr>Hierarchical DBSCAN (HDBSCAN)</vt:lpstr>
      <vt:lpstr>PCA: Principal component analysis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 computational complexity</vt:lpstr>
      <vt:lpstr>PCA properties</vt:lpstr>
      <vt:lpstr>PCA</vt:lpstr>
      <vt:lpstr>T-SNE: non-linear data visualization</vt:lpstr>
      <vt:lpstr>Data Visualization</vt:lpstr>
      <vt:lpstr>T-SNE (t-distributed Stochastic Neighbor Embedding)</vt:lpstr>
      <vt:lpstr>KL-divergence</vt:lpstr>
      <vt:lpstr>KL asymmetry</vt:lpstr>
      <vt:lpstr>KL from information theory</vt:lpstr>
      <vt:lpstr>T-SNE</vt:lpstr>
      <vt:lpstr>Choosing parameters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Dmitry Kropotov</cp:lastModifiedBy>
  <cp:revision>414</cp:revision>
  <dcterms:created xsi:type="dcterms:W3CDTF">2016-07-15T17:21:31Z</dcterms:created>
  <dcterms:modified xsi:type="dcterms:W3CDTF">2026-05-08T06:03:53Z</dcterms:modified>
</cp:coreProperties>
</file>