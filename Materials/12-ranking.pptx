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77" r:id="rId2"/>
    <p:sldId id="278" r:id="rId3"/>
    <p:sldId id="279" r:id="rId4"/>
    <p:sldId id="280" r:id="rId5"/>
    <p:sldId id="304" r:id="rId6"/>
    <p:sldId id="305" r:id="rId7"/>
    <p:sldId id="281" r:id="rId8"/>
    <p:sldId id="282" r:id="rId9"/>
    <p:sldId id="283" r:id="rId10"/>
    <p:sldId id="311" r:id="rId11"/>
    <p:sldId id="307" r:id="rId12"/>
    <p:sldId id="284" r:id="rId13"/>
    <p:sldId id="296" r:id="rId14"/>
    <p:sldId id="308" r:id="rId15"/>
    <p:sldId id="309" r:id="rId16"/>
    <p:sldId id="292" r:id="rId17"/>
    <p:sldId id="310" r:id="rId18"/>
    <p:sldId id="293" r:id="rId19"/>
    <p:sldId id="294" r:id="rId20"/>
    <p:sldId id="285" r:id="rId21"/>
    <p:sldId id="286" r:id="rId22"/>
    <p:sldId id="287" r:id="rId23"/>
    <p:sldId id="297" r:id="rId24"/>
    <p:sldId id="288" r:id="rId25"/>
    <p:sldId id="299" r:id="rId26"/>
    <p:sldId id="298" r:id="rId27"/>
    <p:sldId id="289" r:id="rId28"/>
    <p:sldId id="300" r:id="rId29"/>
    <p:sldId id="301" r:id="rId30"/>
    <p:sldId id="302" r:id="rId31"/>
    <p:sldId id="303" r:id="rId32"/>
    <p:sldId id="312" r:id="rId33"/>
    <p:sldId id="290" r:id="rId34"/>
    <p:sldId id="295" r:id="rId35"/>
    <p:sldId id="291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719" autoAdjust="0"/>
  </p:normalViewPr>
  <p:slideViewPr>
    <p:cSldViewPr snapToGrid="0">
      <p:cViewPr varScale="1">
        <p:scale>
          <a:sx n="67" d="100"/>
          <a:sy n="67" d="100"/>
        </p:scale>
        <p:origin x="9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79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tmp"/><Relationship Id="rId4" Type="http://schemas.openxmlformats.org/officeDocument/2006/relationships/image" Target="../media/image12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tmp"/><Relationship Id="rId4" Type="http://schemas.openxmlformats.org/officeDocument/2006/relationships/image" Target="../media/image16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tmp"/><Relationship Id="rId5" Type="http://schemas.openxmlformats.org/officeDocument/2006/relationships/image" Target="../media/image20.tmp"/><Relationship Id="rId4" Type="http://schemas.openxmlformats.org/officeDocument/2006/relationships/image" Target="../media/image19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tmp"/><Relationship Id="rId5" Type="http://schemas.openxmlformats.org/officeDocument/2006/relationships/image" Target="../media/image25.tmp"/><Relationship Id="rId4" Type="http://schemas.openxmlformats.org/officeDocument/2006/relationships/image" Target="../media/image24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tmp"/><Relationship Id="rId4" Type="http://schemas.openxmlformats.org/officeDocument/2006/relationships/image" Target="../media/image29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tmp"/><Relationship Id="rId4" Type="http://schemas.openxmlformats.org/officeDocument/2006/relationships/image" Target="../media/image35.tm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mp"/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tmp"/><Relationship Id="rId4" Type="http://schemas.openxmlformats.org/officeDocument/2006/relationships/image" Target="../media/image39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tmp"/><Relationship Id="rId5" Type="http://schemas.openxmlformats.org/officeDocument/2006/relationships/image" Target="../media/image43.tmp"/><Relationship Id="rId4" Type="http://schemas.openxmlformats.org/officeDocument/2006/relationships/image" Target="../media/image42.tm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mp"/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image" Target="../media/image47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tmp"/><Relationship Id="rId5" Type="http://schemas.openxmlformats.org/officeDocument/2006/relationships/image" Target="../media/image50.tmp"/><Relationship Id="rId4" Type="http://schemas.openxmlformats.org/officeDocument/2006/relationships/image" Target="../media/image49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mp"/><Relationship Id="rId2" Type="http://schemas.openxmlformats.org/officeDocument/2006/relationships/image" Target="../media/image52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tmp"/><Relationship Id="rId5" Type="http://schemas.openxmlformats.org/officeDocument/2006/relationships/image" Target="../media/image60.tmp"/><Relationship Id="rId4" Type="http://schemas.openxmlformats.org/officeDocument/2006/relationships/image" Target="../media/image59.tm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tmp"/><Relationship Id="rId2" Type="http://schemas.openxmlformats.org/officeDocument/2006/relationships/image" Target="../media/image6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tmp"/><Relationship Id="rId7" Type="http://schemas.openxmlformats.org/officeDocument/2006/relationships/image" Target="../media/image70.tmp"/><Relationship Id="rId2" Type="http://schemas.openxmlformats.org/officeDocument/2006/relationships/image" Target="../media/image6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tmp"/><Relationship Id="rId5" Type="http://schemas.openxmlformats.org/officeDocument/2006/relationships/image" Target="../media/image68.tmp"/><Relationship Id="rId4" Type="http://schemas.openxmlformats.org/officeDocument/2006/relationships/image" Target="../media/image67.tm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tmp"/><Relationship Id="rId2" Type="http://schemas.openxmlformats.org/officeDocument/2006/relationships/image" Target="../media/image6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tmp"/><Relationship Id="rId4" Type="http://schemas.openxmlformats.org/officeDocument/2006/relationships/image" Target="../media/image61.tmp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tm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tmp"/><Relationship Id="rId2" Type="http://schemas.openxmlformats.org/officeDocument/2006/relationships/image" Target="../media/image74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tmp"/><Relationship Id="rId2" Type="http://schemas.openxmlformats.org/officeDocument/2006/relationships/image" Target="../media/image76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E55AB-6FBF-B0C9-8397-B1AFFFCA7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0731"/>
            <a:ext cx="9144000" cy="3056232"/>
          </a:xfrm>
        </p:spPr>
        <p:txBody>
          <a:bodyPr>
            <a:normAutofit/>
          </a:bodyPr>
          <a:lstStyle/>
          <a:p>
            <a:r>
              <a:rPr lang="en-US" dirty="0"/>
              <a:t>Learning to Rank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54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BE304-C94B-5293-B6DC-40877D9E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Ranking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D51788-8E65-D31D-AEE3-32F9FAFED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23" y="2071436"/>
            <a:ext cx="6347555" cy="126032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06DD535-85BB-286A-FDAB-D707DA30C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74" y="4680684"/>
            <a:ext cx="6360804" cy="14892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187963-FF3C-B6F9-F940-922046DFA3E9}"/>
              </a:ext>
            </a:extLst>
          </p:cNvPr>
          <p:cNvSpPr txBox="1"/>
          <p:nvPr/>
        </p:nvSpPr>
        <p:spPr>
          <a:xfrm>
            <a:off x="838200" y="1497888"/>
            <a:ext cx="31943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Web search engines: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E68BE5-7DBD-EBD5-7999-37CB3CA4471C}"/>
              </a:ext>
            </a:extLst>
          </p:cNvPr>
          <p:cNvSpPr txBox="1"/>
          <p:nvPr/>
        </p:nvSpPr>
        <p:spPr>
          <a:xfrm>
            <a:off x="794907" y="4157463"/>
            <a:ext cx="6111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Online shopping recommender systems:</a:t>
            </a:r>
            <a:endParaRPr lang="ru-RU" sz="2800" dirty="0"/>
          </a:p>
        </p:txBody>
      </p:sp>
      <p:pic>
        <p:nvPicPr>
          <p:cNvPr id="1026" name="Picture 2" descr="YouTube Recommendations Algorithm Updates | Youtube Marketing">
            <a:extLst>
              <a:ext uri="{FF2B5EF4-FFF2-40B4-BE49-F238E27FC236}">
                <a16:creationId xmlns:a16="http://schemas.microsoft.com/office/drawing/2014/main" id="{1F353C67-9A12-3006-15A8-AE1A6EF08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130" y="2664063"/>
            <a:ext cx="3683363" cy="208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1A3BD7-2D99-B040-262C-DD45A271F798}"/>
              </a:ext>
            </a:extLst>
          </p:cNvPr>
          <p:cNvSpPr txBox="1"/>
          <p:nvPr/>
        </p:nvSpPr>
        <p:spPr>
          <a:xfrm>
            <a:off x="8227066" y="1625590"/>
            <a:ext cx="38834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Video service recommender systems: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89733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C5961-2B07-4EC5-D8EC-6FCD5CEF5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model for ranking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60F2F-FCE3-24DF-0E01-99F3783451F4}"/>
              </a:ext>
            </a:extLst>
          </p:cNvPr>
          <p:cNvSpPr txBox="1"/>
          <p:nvPr/>
        </p:nvSpPr>
        <p:spPr>
          <a:xfrm>
            <a:off x="838200" y="1531083"/>
            <a:ext cx="5822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Object = a pair of query and document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B20867-CC32-E4C2-34FF-EEF35605C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29" y="1541717"/>
            <a:ext cx="1793892" cy="523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099CE9-C99B-9E18-C985-7067576D07CC}"/>
              </a:ext>
            </a:extLst>
          </p:cNvPr>
          <p:cNvSpPr txBox="1"/>
          <p:nvPr/>
        </p:nvSpPr>
        <p:spPr>
          <a:xfrm>
            <a:off x="838200" y="2172128"/>
            <a:ext cx="23553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Scoring model: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1BEF87A-A358-2441-A083-98D89654A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876" y="3776198"/>
            <a:ext cx="4462745" cy="5232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D307B4-20DA-4055-9ADD-35CF65CB5DB0}"/>
              </a:ext>
            </a:extLst>
          </p:cNvPr>
          <p:cNvSpPr txBox="1"/>
          <p:nvPr/>
        </p:nvSpPr>
        <p:spPr>
          <a:xfrm>
            <a:off x="838200" y="2760023"/>
            <a:ext cx="107938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Inference: for given query and collection of documents output a list of top-ranked documents </a:t>
            </a:r>
            <a:r>
              <a:rPr lang="en-US" sz="2800" dirty="0" err="1"/>
              <a:t>w.r.t.</a:t>
            </a:r>
            <a:r>
              <a:rPr lang="en-US" sz="2800" dirty="0"/>
              <a:t> their scores</a:t>
            </a:r>
            <a:endParaRPr lang="ru-RU" sz="28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AED2B8C-9AD7-F56C-9EEC-C54B1CE65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526" y="2205114"/>
            <a:ext cx="2813809" cy="4689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0C94B7-0BC3-631C-2F53-9C133F4257C1}"/>
              </a:ext>
            </a:extLst>
          </p:cNvPr>
          <p:cNvSpPr txBox="1"/>
          <p:nvPr/>
        </p:nvSpPr>
        <p:spPr>
          <a:xfrm>
            <a:off x="264041" y="4507013"/>
            <a:ext cx="11810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Query/documents examples</a:t>
            </a:r>
          </a:p>
          <a:p>
            <a:r>
              <a:rPr lang="en-US" sz="2800" dirty="0"/>
              <a:t>Web search: query = search query + user/location, documents = web pages</a:t>
            </a:r>
          </a:p>
          <a:p>
            <a:r>
              <a:rPr lang="en-US" sz="2800" dirty="0"/>
              <a:t>Online shopping: query = current order + user/location, documents = goods</a:t>
            </a:r>
          </a:p>
          <a:p>
            <a:r>
              <a:rPr lang="en-US" sz="2800" dirty="0"/>
              <a:t>Video service: query = current/recent video history + user/location, documents = videos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9876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E52C9-0A78-90BD-9AC4-643F03C0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Supervision in Ranking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C735C-CA4D-02FD-86EB-2DD0B6175371}"/>
              </a:ext>
            </a:extLst>
          </p:cNvPr>
          <p:cNvSpPr txBox="1"/>
          <p:nvPr/>
        </p:nvSpPr>
        <p:spPr>
          <a:xfrm>
            <a:off x="903766" y="1637403"/>
            <a:ext cx="7602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 Relevant/non-relevant objects (users click data):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E7E7C7-AFCB-0A03-9EA5-44ADEE54B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127" y="2260406"/>
            <a:ext cx="2453318" cy="523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B48306-984B-70B9-2741-1512E021C24A}"/>
              </a:ext>
            </a:extLst>
          </p:cNvPr>
          <p:cNvSpPr txBox="1"/>
          <p:nvPr/>
        </p:nvSpPr>
        <p:spPr>
          <a:xfrm>
            <a:off x="903766" y="3014323"/>
            <a:ext cx="10720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 Ranking for pairs of documents (users click data or given by assessors):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D2B41-BA6E-F13E-F2A5-38270B4A26AD}"/>
              </a:ext>
            </a:extLst>
          </p:cNvPr>
          <p:cNvSpPr txBox="1"/>
          <p:nvPr/>
        </p:nvSpPr>
        <p:spPr>
          <a:xfrm>
            <a:off x="903766" y="4391251"/>
            <a:ext cx="10621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3. Graded relevance: 0(bad), 1(fair), 2(good), 3(excellent), 4(perfect) (given by assessors)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0ECA96F-2AF4-525C-91B3-D5354FF82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538" y="5320181"/>
            <a:ext cx="3000495" cy="5232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2024CE-E451-E024-EF85-ED53592E8AFE}"/>
              </a:ext>
            </a:extLst>
          </p:cNvPr>
          <p:cNvSpPr txBox="1"/>
          <p:nvPr/>
        </p:nvSpPr>
        <p:spPr>
          <a:xfrm>
            <a:off x="901998" y="5905860"/>
            <a:ext cx="103259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real search engines usually a combination of different supervision is used with more weight for assessor’s data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955BCC-8BA3-0CB6-AFB2-A2A387167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429" y="3648007"/>
            <a:ext cx="4708985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9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14EA-9F2E-BE42-FB78-258D7366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97290-A86C-C5B0-6C19-E883EDC4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Supervision in Ranking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F3002-08AE-A6DB-8F89-3AABD531F4AB}"/>
              </a:ext>
            </a:extLst>
          </p:cNvPr>
          <p:cNvSpPr txBox="1"/>
          <p:nvPr/>
        </p:nvSpPr>
        <p:spPr>
          <a:xfrm>
            <a:off x="871867" y="1573605"/>
            <a:ext cx="3154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Pointwise relevancy</a:t>
            </a:r>
            <a:endParaRPr lang="ru-RU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82561F-B661-B8F5-7200-8FA9FECC7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043" y="1603548"/>
            <a:ext cx="2453318" cy="523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1C5F1C-E2D6-A2FF-6D45-64BFF72CCBFF}"/>
              </a:ext>
            </a:extLst>
          </p:cNvPr>
          <p:cNvSpPr txBox="1"/>
          <p:nvPr/>
        </p:nvSpPr>
        <p:spPr>
          <a:xfrm>
            <a:off x="893133" y="5284395"/>
            <a:ext cx="8926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Users click data: easy to collect, large amount, but very noisy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74603-890C-233F-B520-315CCB9F3AF2}"/>
              </a:ext>
            </a:extLst>
          </p:cNvPr>
          <p:cNvSpPr txBox="1"/>
          <p:nvPr/>
        </p:nvSpPr>
        <p:spPr>
          <a:xfrm>
            <a:off x="882500" y="2289788"/>
            <a:ext cx="108983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y=1, if:</a:t>
            </a:r>
          </a:p>
          <a:p>
            <a:pPr marL="514350" indent="-514350">
              <a:buAutoNum type="arabicParenR"/>
            </a:pPr>
            <a:r>
              <a:rPr lang="en-US" sz="2800" dirty="0"/>
              <a:t>user clicks the link and stay on the site enough time</a:t>
            </a:r>
          </a:p>
          <a:p>
            <a:pPr marL="514350" indent="-514350">
              <a:buFontTx/>
              <a:buAutoNum type="arabicParenR"/>
            </a:pPr>
            <a:r>
              <a:rPr lang="en-US" sz="2800" dirty="0"/>
              <a:t>user clicks the link and doesn’t return to search results within the same session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A368F-2501-51C9-A330-28C79F33ABC6}"/>
              </a:ext>
            </a:extLst>
          </p:cNvPr>
          <p:cNvSpPr txBox="1"/>
          <p:nvPr/>
        </p:nvSpPr>
        <p:spPr>
          <a:xfrm>
            <a:off x="925032" y="4205808"/>
            <a:ext cx="10239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y=0, if user skips this link and clicks some link below in search results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6219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0A358-E6F7-C422-08C8-30D8E5C1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62535-F55D-ACEC-51F4-FD6EB86E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Supervision in Ranking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21C07-2F8D-528F-61D5-F5E9DB0B078B}"/>
              </a:ext>
            </a:extLst>
          </p:cNvPr>
          <p:cNvSpPr txBox="1"/>
          <p:nvPr/>
        </p:nvSpPr>
        <p:spPr>
          <a:xfrm>
            <a:off x="871867" y="1573605"/>
            <a:ext cx="2954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Pairwise relevancy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01FF4-AD0A-B9BD-C12B-6A4169E3871A}"/>
              </a:ext>
            </a:extLst>
          </p:cNvPr>
          <p:cNvSpPr txBox="1"/>
          <p:nvPr/>
        </p:nvSpPr>
        <p:spPr>
          <a:xfrm>
            <a:off x="882500" y="2289788"/>
            <a:ext cx="108983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Can be collected from user clicks. Advantage </a:t>
            </a:r>
            <a:r>
              <a:rPr lang="en-US" sz="2800" dirty="0" err="1"/>
              <a:t>w.r.t.</a:t>
            </a:r>
            <a:r>
              <a:rPr lang="en-US" sz="2800" dirty="0"/>
              <a:t> pointwise relevancy: remove positional bias (the user clicks the link just because it is on the first positions)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9A17A2-B3B7-9F3B-B0F6-EBC1CD9F70BB}"/>
              </a:ext>
            </a:extLst>
          </p:cNvPr>
          <p:cNvSpPr txBox="1"/>
          <p:nvPr/>
        </p:nvSpPr>
        <p:spPr>
          <a:xfrm>
            <a:off x="903766" y="3929352"/>
            <a:ext cx="1128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Can be collected from assessors (cheaper then collecting graded relevancy)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8A4595-5F64-6F85-14FC-DD6D514C4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460" y="1589615"/>
            <a:ext cx="4708985" cy="52322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32BA823-5151-FC7F-D0D3-6571487AE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894" y="4919796"/>
            <a:ext cx="3000495" cy="5232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01AFF5-6275-F933-C0C6-C16B92DAF799}"/>
              </a:ext>
            </a:extLst>
          </p:cNvPr>
          <p:cNvSpPr txBox="1"/>
          <p:nvPr/>
        </p:nvSpPr>
        <p:spPr>
          <a:xfrm>
            <a:off x="903766" y="4909163"/>
            <a:ext cx="3000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Graded relevancy</a:t>
            </a: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F9E8C1-F7D8-7299-35F4-A341B2153BEB}"/>
              </a:ext>
            </a:extLst>
          </p:cNvPr>
          <p:cNvSpPr txBox="1"/>
          <p:nvPr/>
        </p:nvSpPr>
        <p:spPr>
          <a:xfrm>
            <a:off x="923438" y="5557744"/>
            <a:ext cx="6997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Expensive to collect, but has high quality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96302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C6807-A2D4-FEB4-0176-F319278B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Evaluation Metrics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8FDB0-B0FD-99BD-DFB1-171ADC72B532}"/>
              </a:ext>
            </a:extLst>
          </p:cNvPr>
          <p:cNvSpPr txBox="1"/>
          <p:nvPr/>
        </p:nvSpPr>
        <p:spPr>
          <a:xfrm>
            <a:off x="838200" y="1690688"/>
            <a:ext cx="3264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Pointwise relevance:</a:t>
            </a:r>
            <a:endParaRPr lang="ru-RU" sz="2800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32747D-9A30-4564-0FB8-363E31817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901" y="1776414"/>
            <a:ext cx="1792518" cy="39496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A6F24C-D3E8-ABFD-3559-A23927616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937" y="3248204"/>
            <a:ext cx="6957400" cy="3949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72E863-9F74-2373-D24B-71F9F19C4E35}"/>
              </a:ext>
            </a:extLst>
          </p:cNvPr>
          <p:cNvSpPr txBox="1"/>
          <p:nvPr/>
        </p:nvSpPr>
        <p:spPr>
          <a:xfrm>
            <a:off x="838200" y="2552237"/>
            <a:ext cx="10753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sort all objects </a:t>
            </a:r>
            <a:r>
              <a:rPr lang="en-US" sz="2800" dirty="0" err="1"/>
              <a:t>w.r.t.</a:t>
            </a:r>
            <a:r>
              <a:rPr lang="en-US" sz="2800" dirty="0"/>
              <a:t> their relevance scores and take top-K elements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DBD828-8FB7-1429-5409-5C66671AC5EE}"/>
              </a:ext>
            </a:extLst>
          </p:cNvPr>
          <p:cNvSpPr txBox="1"/>
          <p:nvPr/>
        </p:nvSpPr>
        <p:spPr>
          <a:xfrm>
            <a:off x="838200" y="3873208"/>
            <a:ext cx="4918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Their corresponding relevancies: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F882A3D-8EFF-A932-9337-C20D836E1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634" y="3955096"/>
            <a:ext cx="2694026" cy="50513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8CB039C-0DFE-A2EC-C4EC-DEA026F14F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784" y="4564219"/>
            <a:ext cx="4584376" cy="10604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15730F-D7F7-842F-628F-449B09B3BEE4}"/>
              </a:ext>
            </a:extLst>
          </p:cNvPr>
          <p:cNvSpPr txBox="1"/>
          <p:nvPr/>
        </p:nvSpPr>
        <p:spPr>
          <a:xfrm>
            <a:off x="838200" y="5624623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metric doesn’t consider the ordering, e.g. for [0,0,0,1,1] and [1,1,0,0,0] it has the same value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3893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F9543C-836F-E968-3BFA-46B4A36F8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Evaluation Metrics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CE5F55-2F4A-A6B7-3DFE-3B0E0F1A4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761" y="1628317"/>
            <a:ext cx="8116477" cy="9979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8B01EB-7450-5CBA-C829-7C7AB6FE9054}"/>
              </a:ext>
            </a:extLst>
          </p:cNvPr>
          <p:cNvSpPr txBox="1"/>
          <p:nvPr/>
        </p:nvSpPr>
        <p:spPr>
          <a:xfrm>
            <a:off x="838200" y="3017666"/>
            <a:ext cx="4193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the case y=[0, 0, 0, 1, 1]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CC5B85-38DB-989F-20AA-49601FAA0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694" y="2857162"/>
            <a:ext cx="3469710" cy="8940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617EAC-A467-FA95-8093-3C47CEB5B448}"/>
              </a:ext>
            </a:extLst>
          </p:cNvPr>
          <p:cNvSpPr txBox="1"/>
          <p:nvPr/>
        </p:nvSpPr>
        <p:spPr>
          <a:xfrm>
            <a:off x="838200" y="4065832"/>
            <a:ext cx="4193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the case y=[1, 1, 0, 0, 0]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E520FE9-C2DF-B595-2070-D8E4A71B16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957" y="3925519"/>
            <a:ext cx="3065262" cy="89403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2F61C89-7723-51E1-5566-4EB1F180F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761" y="4984621"/>
            <a:ext cx="7878364" cy="99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89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989B2-4DD6-E78F-5095-420F00BEE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Evaluation Metrics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CE6F62-11D9-DA2E-C77B-C64464852869}"/>
              </a:ext>
            </a:extLst>
          </p:cNvPr>
          <p:cNvSpPr txBox="1"/>
          <p:nvPr/>
        </p:nvSpPr>
        <p:spPr>
          <a:xfrm>
            <a:off x="871867" y="1573605"/>
            <a:ext cx="2954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Pairwise relevancy</a:t>
            </a:r>
            <a:endParaRPr lang="ru-RU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FCB236-16C4-4FA6-3D8D-62187305C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460" y="1589615"/>
            <a:ext cx="4708985" cy="5232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199B99-54A4-5AB7-A746-2E89F2C5C348}"/>
              </a:ext>
            </a:extLst>
          </p:cNvPr>
          <p:cNvSpPr txBox="1"/>
          <p:nvPr/>
        </p:nvSpPr>
        <p:spPr>
          <a:xfrm>
            <a:off x="882500" y="2375948"/>
            <a:ext cx="4594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Rank correlation Kendall’s tau: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58F1BB9-D868-D841-6E1F-B9D8F5C5C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689" y="2217676"/>
            <a:ext cx="1596506" cy="8657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624065-2536-91C6-2A72-26FD913CC2DE}"/>
              </a:ext>
            </a:extLst>
          </p:cNvPr>
          <p:cNvSpPr txBox="1"/>
          <p:nvPr/>
        </p:nvSpPr>
        <p:spPr>
          <a:xfrm>
            <a:off x="875208" y="3220367"/>
            <a:ext cx="27593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Concordant pairs:</a:t>
            </a: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386D31-B4CA-F98E-A507-E13EFD59E83C}"/>
              </a:ext>
            </a:extLst>
          </p:cNvPr>
          <p:cNvSpPr txBox="1"/>
          <p:nvPr/>
        </p:nvSpPr>
        <p:spPr>
          <a:xfrm>
            <a:off x="891365" y="4146873"/>
            <a:ext cx="2634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Discordant pairs:</a:t>
            </a:r>
            <a:endParaRPr lang="ru-RU" sz="28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091CD9B-2BDD-C2B9-D8A0-2711370FC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629" y="3207482"/>
            <a:ext cx="4320964" cy="86576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0897464-AFCF-09DD-8B48-18F609306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719" y="4142663"/>
            <a:ext cx="4522160" cy="86576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6E1C638-C0C2-632F-294F-80088E13B96A}"/>
              </a:ext>
            </a:extLst>
          </p:cNvPr>
          <p:cNvSpPr txBox="1"/>
          <p:nvPr/>
        </p:nvSpPr>
        <p:spPr>
          <a:xfrm>
            <a:off x="893133" y="5312188"/>
            <a:ext cx="4626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Concordance index (accuracy):</a:t>
            </a:r>
            <a:endParaRPr lang="ru-RU" sz="28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F8A1B99-874F-5C8E-6650-4F6BB73EA1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433" y="5268385"/>
            <a:ext cx="1445162" cy="72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7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989B2-4DD6-E78F-5095-420F00BEE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Evaluation Metrics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15512-A477-F4AF-7DFB-5D5B54A75EC2}"/>
              </a:ext>
            </a:extLst>
          </p:cNvPr>
          <p:cNvSpPr txBox="1"/>
          <p:nvPr/>
        </p:nvSpPr>
        <p:spPr>
          <a:xfrm>
            <a:off x="892026" y="3297504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disadvantage: these metrics don’t account for positions of errors in ranking list</a:t>
            </a:r>
            <a:r>
              <a:rPr lang="ru-RU" sz="2800" dirty="0"/>
              <a:t> (</a:t>
            </a:r>
            <a:r>
              <a:rPr lang="en-US" sz="2800" dirty="0"/>
              <a:t>mixing up 1</a:t>
            </a:r>
            <a:r>
              <a:rPr lang="en-US" sz="2800" baseline="30000" dirty="0"/>
              <a:t>st</a:t>
            </a:r>
            <a:r>
              <a:rPr lang="en-US" sz="2800" dirty="0"/>
              <a:t> and 2</a:t>
            </a:r>
            <a:r>
              <a:rPr lang="en-US" sz="2800" baseline="30000" dirty="0"/>
              <a:t>nd</a:t>
            </a:r>
            <a:r>
              <a:rPr lang="en-US" sz="2800" dirty="0"/>
              <a:t> position costs the same as mixing 9</a:t>
            </a:r>
            <a:r>
              <a:rPr lang="en-US" sz="2800" baseline="30000" dirty="0"/>
              <a:t>th</a:t>
            </a:r>
            <a:r>
              <a:rPr lang="en-US" sz="2800" dirty="0"/>
              <a:t> and 10</a:t>
            </a:r>
            <a:r>
              <a:rPr lang="en-US" sz="2800" baseline="30000" dirty="0"/>
              <a:t>th</a:t>
            </a:r>
            <a:r>
              <a:rPr lang="en-US" sz="2800" dirty="0"/>
              <a:t> )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CE6F62-11D9-DA2E-C77B-C64464852869}"/>
              </a:ext>
            </a:extLst>
          </p:cNvPr>
          <p:cNvSpPr txBox="1"/>
          <p:nvPr/>
        </p:nvSpPr>
        <p:spPr>
          <a:xfrm>
            <a:off x="871867" y="1573605"/>
            <a:ext cx="2954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Pairwise relevancy</a:t>
            </a:r>
            <a:endParaRPr lang="ru-RU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FCB236-16C4-4FA6-3D8D-62187305C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460" y="1589615"/>
            <a:ext cx="4708985" cy="5232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199B99-54A4-5AB7-A746-2E89F2C5C348}"/>
              </a:ext>
            </a:extLst>
          </p:cNvPr>
          <p:cNvSpPr txBox="1"/>
          <p:nvPr/>
        </p:nvSpPr>
        <p:spPr>
          <a:xfrm>
            <a:off x="882500" y="2375948"/>
            <a:ext cx="4594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Rank correlation Kendall’s tau: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58F1BB9-D868-D841-6E1F-B9D8F5C5C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689" y="2217676"/>
            <a:ext cx="1596506" cy="8657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042912-B0A8-406E-9CE4-78A8AFC48438}"/>
              </a:ext>
            </a:extLst>
          </p:cNvPr>
          <p:cNvSpPr txBox="1"/>
          <p:nvPr/>
        </p:nvSpPr>
        <p:spPr>
          <a:xfrm>
            <a:off x="892026" y="4933605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Practical usage: comparison of two ranking systems, assessors’ control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71108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102B0-D6C8-872F-122F-F35B4F87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EBDDC-9AA5-A246-A3E0-BCC61CB26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Evaluation Metrics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0872A-DF8C-3590-30B5-A9A0DA9B99A0}"/>
              </a:ext>
            </a:extLst>
          </p:cNvPr>
          <p:cNvSpPr txBox="1"/>
          <p:nvPr/>
        </p:nvSpPr>
        <p:spPr>
          <a:xfrm>
            <a:off x="838200" y="1567872"/>
            <a:ext cx="3333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Kendall’s tau example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981C4-90E0-2228-BA28-6B79D133FBB3}"/>
              </a:ext>
            </a:extLst>
          </p:cNvPr>
          <p:cNvSpPr txBox="1"/>
          <p:nvPr/>
        </p:nvSpPr>
        <p:spPr>
          <a:xfrm>
            <a:off x="838200" y="2220003"/>
            <a:ext cx="3091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Ground truth order: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440329-17DF-A7C9-3720-554ED54CF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738" y="2223977"/>
            <a:ext cx="1918468" cy="5232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70E7E5-0DFA-E5AF-6891-BDD88018031D}"/>
              </a:ext>
            </a:extLst>
          </p:cNvPr>
          <p:cNvSpPr txBox="1"/>
          <p:nvPr/>
        </p:nvSpPr>
        <p:spPr>
          <a:xfrm>
            <a:off x="6466371" y="2220003"/>
            <a:ext cx="2651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Prediction order: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C78A348-5534-3512-0078-36C58D54D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728" y="2220003"/>
            <a:ext cx="2063807" cy="5232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A0DE969-AEE2-0C85-17E5-4FB3D4D729F5}"/>
              </a:ext>
            </a:extLst>
          </p:cNvPr>
          <p:cNvSpPr txBox="1"/>
          <p:nvPr/>
        </p:nvSpPr>
        <p:spPr>
          <a:xfrm>
            <a:off x="838200" y="2905780"/>
            <a:ext cx="2645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Number of pairs:</a:t>
            </a:r>
            <a:endParaRPr lang="ru-RU" sz="28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5D2B5D9-AB52-A45F-6212-5D90803EC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471" y="2868564"/>
            <a:ext cx="1997123" cy="693341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0105FE3-9523-284C-B0B4-6CE56C213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01" y="4160457"/>
            <a:ext cx="3404191" cy="258071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33C80B3-EB4A-6D38-2198-F681AC557F09}"/>
              </a:ext>
            </a:extLst>
          </p:cNvPr>
          <p:cNvSpPr txBox="1"/>
          <p:nvPr/>
        </p:nvSpPr>
        <p:spPr>
          <a:xfrm>
            <a:off x="844040" y="3583171"/>
            <a:ext cx="3006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Concordance table:</a:t>
            </a:r>
            <a:endParaRPr lang="ru-RU" sz="2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103298-39F3-39B8-4095-1E2AD8298596}"/>
              </a:ext>
            </a:extLst>
          </p:cNvPr>
          <p:cNvSpPr txBox="1"/>
          <p:nvPr/>
        </p:nvSpPr>
        <p:spPr>
          <a:xfrm>
            <a:off x="5294468" y="3599571"/>
            <a:ext cx="2674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Rank correlation:</a:t>
            </a:r>
            <a:endParaRPr lang="ru-RU" sz="2800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6C92A4CF-4C0B-5C3A-7FA7-149E591CEB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346" y="4218485"/>
            <a:ext cx="3645235" cy="91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19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10B791-F8FE-D94D-BD5E-321C54BE5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Evaluation Metrics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4DAB05-BA53-1FEF-8F9C-8B48BB088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160" y="1863572"/>
            <a:ext cx="3095715" cy="523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87FF74-CA22-4394-6A52-C44D469689A4}"/>
              </a:ext>
            </a:extLst>
          </p:cNvPr>
          <p:cNvSpPr txBox="1"/>
          <p:nvPr/>
        </p:nvSpPr>
        <p:spPr>
          <a:xfrm>
            <a:off x="838200" y="1818168"/>
            <a:ext cx="2898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Graded relevance:</a:t>
            </a:r>
            <a:endParaRPr lang="ru-RU" sz="28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389056-DB12-1FB0-458E-4E962B687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261" y="3141575"/>
            <a:ext cx="8168819" cy="10829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952F42-2AFC-81F0-CC18-711D93F9ADFA}"/>
              </a:ext>
            </a:extLst>
          </p:cNvPr>
          <p:cNvSpPr txBox="1"/>
          <p:nvPr/>
        </p:nvSpPr>
        <p:spPr>
          <a:xfrm>
            <a:off x="838200" y="2630446"/>
            <a:ext cx="7695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Discounted Cumulative Gain (g – gain, d – discount):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B042B1E-D58E-BDE5-EC3D-B7149F11D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456" y="4150056"/>
            <a:ext cx="5481120" cy="9323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DB9E2-A03D-A936-D6C9-39138E3EBBCF}"/>
              </a:ext>
            </a:extLst>
          </p:cNvPr>
          <p:cNvSpPr txBox="1"/>
          <p:nvPr/>
        </p:nvSpPr>
        <p:spPr>
          <a:xfrm>
            <a:off x="838200" y="4342943"/>
            <a:ext cx="2666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Normalized DCG: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FC9FD3-2FCD-4B1B-33B7-ED6451B0A45E}"/>
              </a:ext>
            </a:extLst>
          </p:cNvPr>
          <p:cNvSpPr txBox="1"/>
          <p:nvPr/>
        </p:nvSpPr>
        <p:spPr>
          <a:xfrm>
            <a:off x="828914" y="5130962"/>
            <a:ext cx="9244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Here maximum is attained for descending order of relevance y</a:t>
            </a:r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83DD7DB-86D5-0B39-AD4C-1CB02B62C7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253" y="5713418"/>
            <a:ext cx="7111073" cy="100257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4FD349-DE15-4F72-73F0-679E775123F9}"/>
              </a:ext>
            </a:extLst>
          </p:cNvPr>
          <p:cNvSpPr txBox="1"/>
          <p:nvPr/>
        </p:nvSpPr>
        <p:spPr>
          <a:xfrm>
            <a:off x="838200" y="5943240"/>
            <a:ext cx="199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Final metric: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37725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3457-5250-9D77-6FDD-DC5163A1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F6C51-2674-BD0E-BB6C-B51DE173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Evaluation Metrics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98CF4A-E0D9-9375-8B98-ED3248E80A3E}"/>
              </a:ext>
            </a:extLst>
          </p:cNvPr>
          <p:cNvSpPr txBox="1"/>
          <p:nvPr/>
        </p:nvSpPr>
        <p:spPr>
          <a:xfrm>
            <a:off x="838200" y="1545925"/>
            <a:ext cx="3667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DCG and </a:t>
            </a:r>
            <a:r>
              <a:rPr lang="en-US" sz="2800" dirty="0" err="1"/>
              <a:t>nDCG</a:t>
            </a:r>
            <a:r>
              <a:rPr lang="en-US" sz="2800" dirty="0"/>
              <a:t> example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EE469-6C41-D672-F845-5C7763D3B8AB}"/>
              </a:ext>
            </a:extLst>
          </p:cNvPr>
          <p:cNvSpPr txBox="1"/>
          <p:nvPr/>
        </p:nvSpPr>
        <p:spPr>
          <a:xfrm>
            <a:off x="838200" y="2182664"/>
            <a:ext cx="435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the case y = [0, 0, 3, 4, 0]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0F16F0-486D-B4CE-BC17-4B18B5892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0" y="2818322"/>
            <a:ext cx="6308086" cy="96686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FA00EB5-7E2F-1C0C-1736-B3F307CB0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52" y="4604461"/>
            <a:ext cx="6466799" cy="82160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0FFE971-16DC-F899-0788-3319BDA54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83" y="5518877"/>
            <a:ext cx="3585774" cy="8111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A28FB4-F43D-B0AE-1019-C9C788443787}"/>
              </a:ext>
            </a:extLst>
          </p:cNvPr>
          <p:cNvSpPr txBox="1"/>
          <p:nvPr/>
        </p:nvSpPr>
        <p:spPr>
          <a:xfrm>
            <a:off x="838200" y="3978800"/>
            <a:ext cx="78623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maxDCG</a:t>
            </a:r>
            <a:r>
              <a:rPr lang="en-US" sz="2800" dirty="0"/>
              <a:t> is DCG for sorted relevance y = [4, 3, 0, 0, 0]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72114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7E173-BED6-28CF-8232-A6B1D08D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CA540-D214-541B-43BC-915906E83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Evaluation Metrics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6FC727-2900-B3CB-30C6-14A941ABC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160" y="1597755"/>
            <a:ext cx="3095715" cy="523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90B5CB-F4D7-91EA-DC71-BDCDB6B799F6}"/>
              </a:ext>
            </a:extLst>
          </p:cNvPr>
          <p:cNvSpPr txBox="1"/>
          <p:nvPr/>
        </p:nvSpPr>
        <p:spPr>
          <a:xfrm>
            <a:off x="838200" y="1552351"/>
            <a:ext cx="2898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Graded relevance:</a:t>
            </a:r>
            <a:endParaRPr lang="ru-RU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82544E-7B93-E712-1FFA-EB5B39DC0285}"/>
              </a:ext>
            </a:extLst>
          </p:cNvPr>
          <p:cNvSpPr txBox="1"/>
          <p:nvPr/>
        </p:nvSpPr>
        <p:spPr>
          <a:xfrm>
            <a:off x="848832" y="2777220"/>
            <a:ext cx="8153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User inspects ranking sequentially from top to bottom: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8FE1F3-8B73-8625-FBF8-BD7DA0F53DB6}"/>
              </a:ext>
            </a:extLst>
          </p:cNvPr>
          <p:cNvSpPr txBox="1"/>
          <p:nvPr/>
        </p:nvSpPr>
        <p:spPr>
          <a:xfrm>
            <a:off x="3312406" y="3610726"/>
            <a:ext cx="5372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probability to click the current link</a:t>
            </a: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A411CB-53EF-A1FE-27E6-92132093BD8C}"/>
              </a:ext>
            </a:extLst>
          </p:cNvPr>
          <p:cNvSpPr txBox="1"/>
          <p:nvPr/>
        </p:nvSpPr>
        <p:spPr>
          <a:xfrm>
            <a:off x="859466" y="2147116"/>
            <a:ext cx="7775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Alternative to </a:t>
            </a:r>
            <a:r>
              <a:rPr lang="en-US" sz="2800" dirty="0" err="1"/>
              <a:t>nDCG</a:t>
            </a:r>
            <a:r>
              <a:rPr lang="en-US" sz="2800" dirty="0"/>
              <a:t>: ERR (Expected Reciprocal Rank)</a:t>
            </a:r>
            <a:endParaRPr lang="ru-RU" sz="28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2A8B4E7-9991-27EF-B715-66AD1E63B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984" y="3463505"/>
            <a:ext cx="1662783" cy="81150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13FE2CC-E2A3-A1CE-1AF1-A825B3C36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452" y="4408061"/>
            <a:ext cx="4570048" cy="85218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ACDBFCF-BD80-9DFD-B42E-BF0ED7E087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18" y="5185814"/>
            <a:ext cx="6808615" cy="110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33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3A5A-34EA-5717-C705-62F28710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2C2EC7-A351-983E-EA34-730529E61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Evaluation Metrics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95663A-6255-206A-CCC1-0C4810521480}"/>
              </a:ext>
            </a:extLst>
          </p:cNvPr>
          <p:cNvSpPr txBox="1"/>
          <p:nvPr/>
        </p:nvSpPr>
        <p:spPr>
          <a:xfrm>
            <a:off x="880730" y="1604663"/>
            <a:ext cx="10730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ERR: better for internet search results, where the first relevant answer is important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71BEE-8CD4-F73E-4C1C-70F5F8C5CC9D}"/>
              </a:ext>
            </a:extLst>
          </p:cNvPr>
          <p:cNvSpPr txBox="1"/>
          <p:nvPr/>
        </p:nvSpPr>
        <p:spPr>
          <a:xfrm>
            <a:off x="870099" y="3124858"/>
            <a:ext cx="11006468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nDCG</a:t>
            </a:r>
            <a:r>
              <a:rPr lang="en-US" sz="2800" dirty="0"/>
              <a:t>: better for online shopping search results, where assortment of goods is important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52833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29DE1-3D1F-4864-0627-C135DC85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for ranking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05A12-F491-376B-331D-650F2B7B6598}"/>
              </a:ext>
            </a:extLst>
          </p:cNvPr>
          <p:cNvSpPr txBox="1"/>
          <p:nvPr/>
        </p:nvSpPr>
        <p:spPr>
          <a:xfrm>
            <a:off x="838200" y="2371064"/>
            <a:ext cx="109302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Features:</a:t>
            </a:r>
          </a:p>
          <a:p>
            <a:pPr marL="342900" indent="-342900">
              <a:buAutoNum type="arabicPeriod"/>
            </a:pPr>
            <a:r>
              <a:rPr lang="en-US" sz="2800" dirty="0"/>
              <a:t>Query features</a:t>
            </a:r>
          </a:p>
          <a:p>
            <a:pPr marL="342900" indent="-342900">
              <a:buAutoNum type="arabicPeriod"/>
            </a:pPr>
            <a:r>
              <a:rPr lang="en-US" sz="2800" dirty="0"/>
              <a:t>Document features</a:t>
            </a:r>
          </a:p>
          <a:p>
            <a:pPr marL="342900" indent="-342900">
              <a:buAutoNum type="arabicPeriod"/>
            </a:pPr>
            <a:r>
              <a:rPr lang="en-US" sz="2800" dirty="0"/>
              <a:t>Joint query-document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5728C-414E-9DDF-3C94-33C2759E598E}"/>
              </a:ext>
            </a:extLst>
          </p:cNvPr>
          <p:cNvSpPr txBox="1"/>
          <p:nvPr/>
        </p:nvSpPr>
        <p:spPr>
          <a:xfrm>
            <a:off x="838200" y="1531083"/>
            <a:ext cx="5822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Object = a pair of query and document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5CAB40-88BF-AAD7-5130-F926E411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29" y="1541717"/>
            <a:ext cx="1793892" cy="5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43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727BA-6AE1-A236-F165-D5311AD5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B8E14-6BED-EC37-322D-3CD84EC0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for ranking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4A0A3-20D8-2E0E-A114-42865A11303E}"/>
              </a:ext>
            </a:extLst>
          </p:cNvPr>
          <p:cNvSpPr txBox="1"/>
          <p:nvPr/>
        </p:nvSpPr>
        <p:spPr>
          <a:xfrm>
            <a:off x="838200" y="1584252"/>
            <a:ext cx="1093027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Query features:</a:t>
            </a:r>
            <a:endParaRPr lang="ru-RU" sz="2800" dirty="0"/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Query intent: navigational, informational, transactional, etc.</a:t>
            </a:r>
            <a:endParaRPr lang="ru-RU" sz="2800" dirty="0"/>
          </a:p>
          <a:p>
            <a:pPr marL="342900" indent="-342900">
              <a:buAutoNum type="arabicPeriod"/>
            </a:pPr>
            <a:r>
              <a:rPr lang="en-US" sz="2800" dirty="0"/>
              <a:t>Query text: length, language, presence of Named Entities, etc.</a:t>
            </a:r>
          </a:p>
          <a:p>
            <a:pPr marL="342900" indent="-342900">
              <a:buAutoNum type="arabicPeriod"/>
            </a:pPr>
            <a:r>
              <a:rPr lang="en-US" sz="2800" dirty="0"/>
              <a:t>Query statistics: popularity, freshness</a:t>
            </a:r>
          </a:p>
          <a:p>
            <a:pPr marL="342900" indent="-342900">
              <a:buAutoNum type="arabicPeriod"/>
            </a:pPr>
            <a:r>
              <a:rPr lang="en-US" sz="2800" dirty="0"/>
              <a:t>Query location and time sensitivity</a:t>
            </a:r>
          </a:p>
          <a:p>
            <a:pPr marL="342900" indent="-342900">
              <a:buAutoNum type="arabicPeriod"/>
            </a:pPr>
            <a:r>
              <a:rPr lang="en-US" sz="2800" dirty="0"/>
              <a:t>Query text embedding (computed by some neural network like BERT)</a:t>
            </a:r>
            <a:endParaRPr lang="ru-RU" sz="2800" dirty="0"/>
          </a:p>
          <a:p>
            <a:pPr marL="342900" indent="-342900">
              <a:buFontTx/>
              <a:buAutoNum type="arabicPeriod"/>
            </a:pPr>
            <a:r>
              <a:rPr lang="en-US" sz="2800" dirty="0"/>
              <a:t>User profile: age, sex, preferred topics, etc.</a:t>
            </a:r>
            <a:endParaRPr lang="ru-RU" sz="2800" dirty="0"/>
          </a:p>
          <a:p>
            <a:pPr marL="342900" indent="-342900">
              <a:buFontTx/>
              <a:buAutoNum type="arabicPeriod"/>
            </a:pPr>
            <a:r>
              <a:rPr lang="en-US" sz="2800" dirty="0"/>
              <a:t>User information: previous queries in session, device, location, time</a:t>
            </a:r>
          </a:p>
          <a:p>
            <a:pPr marL="342900" indent="-342900">
              <a:buAutoNum type="arabicPeriod"/>
            </a:pPr>
            <a:r>
              <a:rPr lang="en-US" sz="2800" dirty="0"/>
              <a:t>User embedding</a:t>
            </a:r>
          </a:p>
        </p:txBody>
      </p:sp>
    </p:spTree>
    <p:extLst>
      <p:ext uri="{BB962C8B-B14F-4D97-AF65-F5344CB8AC3E}">
        <p14:creationId xmlns:p14="http://schemas.microsoft.com/office/powerpoint/2010/main" val="795165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29DE1-3D1F-4864-0627-C135DC85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for ranking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05A12-F491-376B-331D-650F2B7B6598}"/>
              </a:ext>
            </a:extLst>
          </p:cNvPr>
          <p:cNvSpPr txBox="1"/>
          <p:nvPr/>
        </p:nvSpPr>
        <p:spPr>
          <a:xfrm>
            <a:off x="838200" y="1871331"/>
            <a:ext cx="109302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Document features:</a:t>
            </a:r>
          </a:p>
          <a:p>
            <a:pPr marL="342900" indent="-342900">
              <a:buAutoNum type="arabicPeriod"/>
            </a:pPr>
            <a:r>
              <a:rPr lang="en-US" sz="2800" dirty="0"/>
              <a:t>Document embedding</a:t>
            </a:r>
          </a:p>
          <a:p>
            <a:pPr marL="342900" indent="-342900">
              <a:buAutoNum type="arabicPeriod"/>
            </a:pPr>
            <a:r>
              <a:rPr lang="en-US" sz="2800" dirty="0"/>
              <a:t>Document popularity</a:t>
            </a:r>
          </a:p>
          <a:p>
            <a:pPr marL="342900" indent="-342900">
              <a:buAutoNum type="arabicPeriod"/>
            </a:pPr>
            <a:r>
              <a:rPr lang="en-US" sz="2800" dirty="0"/>
              <a:t>Document category</a:t>
            </a:r>
          </a:p>
          <a:p>
            <a:pPr marL="342900" indent="-342900">
              <a:buAutoNum type="arabicPeriod"/>
            </a:pPr>
            <a:r>
              <a:rPr lang="en-US" sz="2800" dirty="0"/>
              <a:t>PageRank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D277B-195B-2213-EAFA-61C483FBB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463" y="1669959"/>
            <a:ext cx="4324572" cy="35180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0B362A-3EB1-2F81-5237-27A1F233C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145" y="4233485"/>
            <a:ext cx="4402432" cy="9608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0960B9-E102-BDF6-9AF2-2D7DA2230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246" y="5184925"/>
            <a:ext cx="998127" cy="45076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B93CCC9-5F91-BB1E-2B50-6203B0FC7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979" y="5782639"/>
            <a:ext cx="949759" cy="4572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64C998-2AB5-AE39-F669-AF3967C86504}"/>
              </a:ext>
            </a:extLst>
          </p:cNvPr>
          <p:cNvSpPr txBox="1"/>
          <p:nvPr/>
        </p:nvSpPr>
        <p:spPr>
          <a:xfrm>
            <a:off x="2469026" y="5150297"/>
            <a:ext cx="4452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list of pages that link to </a:t>
            </a:r>
            <a:r>
              <a:rPr lang="en-US" sz="2800" dirty="0" err="1"/>
              <a:t>p_i</a:t>
            </a:r>
            <a:r>
              <a:rPr lang="en-US" sz="2800" dirty="0"/>
              <a:t> 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4A2DB5-99C0-14E2-D751-542CBA6489B9}"/>
              </a:ext>
            </a:extLst>
          </p:cNvPr>
          <p:cNvSpPr txBox="1"/>
          <p:nvPr/>
        </p:nvSpPr>
        <p:spPr>
          <a:xfrm>
            <a:off x="2408774" y="5729474"/>
            <a:ext cx="5499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number of outbound links from </a:t>
            </a:r>
            <a:r>
              <a:rPr lang="en-US" sz="2800" dirty="0" err="1"/>
              <a:t>p_j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61E54-562A-9C87-5F79-11FA7BF9DDD4}"/>
              </a:ext>
            </a:extLst>
          </p:cNvPr>
          <p:cNvSpPr txBox="1"/>
          <p:nvPr/>
        </p:nvSpPr>
        <p:spPr>
          <a:xfrm>
            <a:off x="1564246" y="6263327"/>
            <a:ext cx="4560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PageRank can be manipulated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27478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29DE1-3D1F-4864-0627-C135DC85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for ranking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05A12-F491-376B-331D-650F2B7B6598}"/>
              </a:ext>
            </a:extLst>
          </p:cNvPr>
          <p:cNvSpPr txBox="1"/>
          <p:nvPr/>
        </p:nvSpPr>
        <p:spPr>
          <a:xfrm>
            <a:off x="838200" y="1871331"/>
            <a:ext cx="109302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Joint query-document features:</a:t>
            </a:r>
          </a:p>
          <a:p>
            <a:pPr marL="342900" indent="-342900">
              <a:buAutoNum type="arabicPeriod"/>
            </a:pPr>
            <a:r>
              <a:rPr lang="en-US" sz="2800" dirty="0"/>
              <a:t>Scalar product of query and document embeddings</a:t>
            </a:r>
          </a:p>
          <a:p>
            <a:pPr marL="342900" indent="-342900">
              <a:buAutoNum type="arabicPeriod"/>
            </a:pPr>
            <a:r>
              <a:rPr lang="en-US" sz="2800" dirty="0"/>
              <a:t>BM25 (“best-match 25”)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9FB1A7-0C18-1763-AA6A-75D186C14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110" y="3830438"/>
            <a:ext cx="7318417" cy="10529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D2431E-39B5-1D3B-36BD-266FF49D5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520" y="5388282"/>
            <a:ext cx="2498523" cy="861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348ED1-C3FD-AFFB-CC94-20141068A2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520" y="4920295"/>
            <a:ext cx="1159262" cy="5129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C99BB8-6357-491F-A1D7-289283E61E16}"/>
              </a:ext>
            </a:extLst>
          </p:cNvPr>
          <p:cNvSpPr txBox="1"/>
          <p:nvPr/>
        </p:nvSpPr>
        <p:spPr>
          <a:xfrm>
            <a:off x="2375239" y="4890824"/>
            <a:ext cx="72321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frequency of word/term </a:t>
            </a:r>
            <a:r>
              <a:rPr lang="en-US" sz="2800" dirty="0" err="1"/>
              <a:t>q_i</a:t>
            </a:r>
            <a:r>
              <a:rPr lang="en-US" sz="2800" dirty="0"/>
              <a:t> in the document D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77F1BA-9601-188D-66D9-B6F338B42D8B}"/>
              </a:ext>
            </a:extLst>
          </p:cNvPr>
          <p:cNvSpPr txBox="1"/>
          <p:nvPr/>
        </p:nvSpPr>
        <p:spPr>
          <a:xfrm>
            <a:off x="1212110" y="3363069"/>
            <a:ext cx="7012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Query = collections of words/terms q_1, … </a:t>
            </a:r>
            <a:r>
              <a:rPr lang="en-US" sz="2800" dirty="0" err="1"/>
              <a:t>q_n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353DCB-30F2-ECC3-6AB3-43BF5152CB87}"/>
              </a:ext>
            </a:extLst>
          </p:cNvPr>
          <p:cNvSpPr txBox="1"/>
          <p:nvPr/>
        </p:nvSpPr>
        <p:spPr>
          <a:xfrm>
            <a:off x="3739309" y="5562500"/>
            <a:ext cx="45451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inverse document frequency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47D1B-0F29-0B0F-E444-5D1F5A279301}"/>
              </a:ext>
            </a:extLst>
          </p:cNvPr>
          <p:cNvSpPr txBox="1"/>
          <p:nvPr/>
        </p:nvSpPr>
        <p:spPr>
          <a:xfrm>
            <a:off x="1219520" y="6260809"/>
            <a:ext cx="6757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Avrd</a:t>
            </a:r>
            <a:r>
              <a:rPr lang="en-US" sz="2800" dirty="0"/>
              <a:t> – average document length in collection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F93F14-6DE5-C007-B21A-3B0B5AA61F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103" y="4087702"/>
            <a:ext cx="2044198" cy="41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66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693A9-0423-5454-FD25-5AAFB51D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Methods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1BA24-5F8E-B0CE-A028-96CA53D35891}"/>
              </a:ext>
            </a:extLst>
          </p:cNvPr>
          <p:cNvSpPr txBox="1"/>
          <p:nvPr/>
        </p:nvSpPr>
        <p:spPr>
          <a:xfrm>
            <a:off x="893132" y="1903224"/>
            <a:ext cx="108452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/>
              <a:t>Pointwise methods:</a:t>
            </a:r>
            <a:r>
              <a:rPr lang="en-US" sz="2800" dirty="0"/>
              <a:t> the loss is computed using individual objects (query-document pairs)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b="1" dirty="0"/>
              <a:t>Pairwise methods:</a:t>
            </a:r>
            <a:r>
              <a:rPr lang="en-US" sz="2800" dirty="0"/>
              <a:t> the loss is computed using pairs of objects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b="1" dirty="0"/>
              <a:t>Listwise methods:</a:t>
            </a:r>
            <a:r>
              <a:rPr lang="en-US" sz="2800" dirty="0"/>
              <a:t> the loss is computed for a list of objects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07446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E62139-D1F9-F689-8DA0-3E8EB244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Pointwise method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E9AE35-EAA7-33AA-FA96-F15E879BB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026" y="2256612"/>
            <a:ext cx="4322483" cy="13255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128726-865C-9F10-BDC2-FA1448F5A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016" y="1847372"/>
            <a:ext cx="1921043" cy="401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99322E-1B10-9EC7-157F-6EA9331B7D40}"/>
              </a:ext>
            </a:extLst>
          </p:cNvPr>
          <p:cNvSpPr txBox="1"/>
          <p:nvPr/>
        </p:nvSpPr>
        <p:spPr>
          <a:xfrm>
            <a:off x="838200" y="1786702"/>
            <a:ext cx="2692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Binary relevance: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0F21C-6CFC-93C8-4ECF-E131A0AB8C2F}"/>
              </a:ext>
            </a:extLst>
          </p:cNvPr>
          <p:cNvSpPr txBox="1"/>
          <p:nvPr/>
        </p:nvSpPr>
        <p:spPr>
          <a:xfrm>
            <a:off x="838200" y="2636875"/>
            <a:ext cx="3882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Learn two-class classifier: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37F4E-2F9D-6E43-04DD-5DDA4EBEDA72}"/>
              </a:ext>
            </a:extLst>
          </p:cNvPr>
          <p:cNvSpPr txBox="1"/>
          <p:nvPr/>
        </p:nvSpPr>
        <p:spPr>
          <a:xfrm>
            <a:off x="838200" y="3795824"/>
            <a:ext cx="106775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Usage: preliminary retrieval (find candidate list for further ranking with more precise pairwise/listwise ranking model), in loss combination with other models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86912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F741C-590D-2268-117B-7652430E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RankNet</a:t>
            </a:r>
            <a:r>
              <a:rPr lang="en-US" dirty="0"/>
              <a:t> (pairwise method)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F6F3C-0714-E953-DF82-B50A29DE10E2}"/>
              </a:ext>
            </a:extLst>
          </p:cNvPr>
          <p:cNvSpPr txBox="1"/>
          <p:nvPr/>
        </p:nvSpPr>
        <p:spPr>
          <a:xfrm>
            <a:off x="838200" y="1648048"/>
            <a:ext cx="2982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Pairwise relevance: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CCA997-1704-E96C-946C-DBA178713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969" y="1706528"/>
            <a:ext cx="3422408" cy="47559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F3B012-350E-9DC5-594F-AB7B6EE75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67" y="2346810"/>
            <a:ext cx="11197856" cy="8882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3191D24-400D-7536-E647-866C615B7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20" y="4098728"/>
            <a:ext cx="1805053" cy="47780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81E9192-F239-C85A-F7CD-81C018BA3E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080" y="3357235"/>
            <a:ext cx="3573486" cy="5232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B6151D-0758-C682-2811-A60E7028D5E9}"/>
              </a:ext>
            </a:extLst>
          </p:cNvPr>
          <p:cNvSpPr txBox="1"/>
          <p:nvPr/>
        </p:nvSpPr>
        <p:spPr>
          <a:xfrm>
            <a:off x="838200" y="4791653"/>
            <a:ext cx="6731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 procedure using SGD and linear a(x):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132F27D-A11C-8386-735A-E59D41633B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401" y="5326256"/>
            <a:ext cx="7779815" cy="8860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B1EFF-8E73-8DCB-1A22-F9E2990591E9}"/>
              </a:ext>
            </a:extLst>
          </p:cNvPr>
          <p:cNvSpPr txBox="1"/>
          <p:nvPr/>
        </p:nvSpPr>
        <p:spPr>
          <a:xfrm>
            <a:off x="2824164" y="4064670"/>
            <a:ext cx="7323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or any other differentiable score function </a:t>
            </a:r>
            <a:r>
              <a:rPr lang="en-US" sz="2800" dirty="0" err="1"/>
              <a:t>w.r.t.</a:t>
            </a:r>
            <a:r>
              <a:rPr lang="en-US" sz="2800" dirty="0"/>
              <a:t> </a:t>
            </a:r>
            <a:r>
              <a:rPr lang="en-US" sz="2800" b="1" dirty="0"/>
              <a:t>w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1674120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F42B-C848-1D8E-A12B-C786F472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BA3FA-584F-DA1F-8A93-3A466AA3F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Mismatch between ranking error rate and ranking metrics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DFE49-E0BD-0A55-A399-773E1272CEE2}"/>
              </a:ext>
            </a:extLst>
          </p:cNvPr>
          <p:cNvSpPr txBox="1"/>
          <p:nvPr/>
        </p:nvSpPr>
        <p:spPr>
          <a:xfrm>
            <a:off x="838201" y="1708200"/>
            <a:ext cx="10515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training we minimize loss function that corresponds to minimization of ranking error rate, but in practice we’re interested in high values of MAP, </a:t>
            </a:r>
            <a:r>
              <a:rPr lang="en-US" sz="2800" dirty="0" err="1"/>
              <a:t>nDCG</a:t>
            </a:r>
            <a:r>
              <a:rPr lang="en-US" sz="2800" dirty="0"/>
              <a:t>, etc.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79F6A-AFB9-3083-91F9-9FC755595EE7}"/>
              </a:ext>
            </a:extLst>
          </p:cNvPr>
          <p:cNvSpPr txBox="1"/>
          <p:nvPr/>
        </p:nvSpPr>
        <p:spPr>
          <a:xfrm>
            <a:off x="832866" y="3175652"/>
            <a:ext cx="5698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Example: only one relevant document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76E0C3-6952-6EB0-F60F-696F0D305ACB}"/>
              </a:ext>
            </a:extLst>
          </p:cNvPr>
          <p:cNvSpPr txBox="1"/>
          <p:nvPr/>
        </p:nvSpPr>
        <p:spPr>
          <a:xfrm>
            <a:off x="838201" y="3792184"/>
            <a:ext cx="85078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Moving relevant document from 3-rd to 2-nd position: error rate changes by 1, AP increases by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D4D4D-45FE-6DE3-F50E-2D26A306E861}"/>
              </a:ext>
            </a:extLst>
          </p:cNvPr>
          <p:cNvSpPr txBox="1"/>
          <p:nvPr/>
        </p:nvSpPr>
        <p:spPr>
          <a:xfrm>
            <a:off x="831114" y="4816452"/>
            <a:ext cx="8195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Moving relevant document from 10-th to 9-th position: error rate changes by 1, AP increases by</a:t>
            </a:r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9F70078-1854-84C4-7601-82541E4EB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211" y="4183383"/>
            <a:ext cx="1263715" cy="56517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5D1E818-244B-53BC-C48F-A2C4B054C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791" y="5293356"/>
            <a:ext cx="1320868" cy="53977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BEEFEF2-6898-1383-B453-388AE87D1767}"/>
              </a:ext>
            </a:extLst>
          </p:cNvPr>
          <p:cNvSpPr txBox="1"/>
          <p:nvPr/>
        </p:nvSpPr>
        <p:spPr>
          <a:xfrm>
            <a:off x="848833" y="5848977"/>
            <a:ext cx="106981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Simple heuristic for </a:t>
            </a:r>
            <a:r>
              <a:rPr lang="en-US" sz="2800" dirty="0" err="1"/>
              <a:t>RankNet</a:t>
            </a:r>
            <a:r>
              <a:rPr lang="en-US" sz="2800" dirty="0"/>
              <a:t>: measure MAP/</a:t>
            </a:r>
            <a:r>
              <a:rPr lang="en-US" sz="2800" dirty="0" err="1"/>
              <a:t>nDCG</a:t>
            </a:r>
            <a:r>
              <a:rPr lang="en-US" sz="2800" dirty="0"/>
              <a:t> on validation set at the end of every epoch and output the solution with the highest value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79690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F741C-590D-2268-117B-7652430E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LambdaRank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12264D-D78F-3D0D-8016-4E805CF91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003" y="3062701"/>
            <a:ext cx="10024610" cy="9382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4B8717-B4C2-7673-5CF5-B9DE61BF9588}"/>
              </a:ext>
            </a:extLst>
          </p:cNvPr>
          <p:cNvSpPr txBox="1"/>
          <p:nvPr/>
        </p:nvSpPr>
        <p:spPr>
          <a:xfrm>
            <a:off x="923318" y="4734303"/>
            <a:ext cx="108757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change in NDCG value in case of swapping </a:t>
            </a:r>
            <a:r>
              <a:rPr lang="en-US" sz="2800" dirty="0" err="1"/>
              <a:t>i-th</a:t>
            </a:r>
            <a:r>
              <a:rPr lang="en-US" sz="2800" dirty="0"/>
              <a:t> and j-</a:t>
            </a:r>
            <a:r>
              <a:rPr lang="en-US" sz="2800" dirty="0" err="1"/>
              <a:t>th</a:t>
            </a:r>
            <a:r>
              <a:rPr lang="en-US" sz="2800" dirty="0"/>
              <a:t> documents in output and leave all the other documents unchanged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27FDB-38C7-09F1-E532-3A257F7421DC}"/>
              </a:ext>
            </a:extLst>
          </p:cNvPr>
          <p:cNvSpPr txBox="1"/>
          <p:nvPr/>
        </p:nvSpPr>
        <p:spPr>
          <a:xfrm>
            <a:off x="838200" y="1475267"/>
            <a:ext cx="9881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It is hard to invent a smooth loss function that would approximate MAP, </a:t>
            </a:r>
            <a:r>
              <a:rPr lang="en-US" sz="2800" dirty="0" err="1"/>
              <a:t>nDCG</a:t>
            </a:r>
            <a:r>
              <a:rPr lang="en-US" sz="2800" dirty="0"/>
              <a:t>, ERR, etc.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5AD28-3B1D-2CC5-1716-5EDA6DDF490B}"/>
              </a:ext>
            </a:extLst>
          </p:cNvPr>
          <p:cNvSpPr txBox="1"/>
          <p:nvPr/>
        </p:nvSpPr>
        <p:spPr>
          <a:xfrm>
            <a:off x="838200" y="2548290"/>
            <a:ext cx="5082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Instead, we can modify gradients: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61655-6C19-C994-A394-F69CCFC61CF2}"/>
              </a:ext>
            </a:extLst>
          </p:cNvPr>
          <p:cNvSpPr txBox="1"/>
          <p:nvPr/>
        </p:nvSpPr>
        <p:spPr>
          <a:xfrm>
            <a:off x="868233" y="5915894"/>
            <a:ext cx="7050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Similarly change in MAP/ERR value can be used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D83530E-4EE1-525E-F562-CFDA3688C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83" y="3929078"/>
            <a:ext cx="7653623" cy="8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54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151D3-C3DC-8BAB-C6DF-FAB00214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A3CA07-CF58-83C2-D35C-88A20863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LambdaRank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D0355D-DAFE-7AA4-BA76-933366FC2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379" y="2588457"/>
            <a:ext cx="9396788" cy="40781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34A2F9-0651-585C-ECFB-FEE0657B779F}"/>
              </a:ext>
            </a:extLst>
          </p:cNvPr>
          <p:cNvSpPr txBox="1"/>
          <p:nvPr/>
        </p:nvSpPr>
        <p:spPr>
          <a:xfrm>
            <a:off x="870099" y="1509932"/>
            <a:ext cx="9188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LambdaRank</a:t>
            </a:r>
            <a:r>
              <a:rPr lang="en-US" sz="2800" dirty="0"/>
              <a:t> usually better optimizes target ranking metrics compared to </a:t>
            </a:r>
            <a:r>
              <a:rPr lang="en-US" sz="2800" dirty="0" err="1"/>
              <a:t>RankNet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185293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AA78-7651-2215-3A8E-7DDAF244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32008-C8DB-7D09-1DE3-68CCEFC5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LambdaRank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81C563-F4CB-D709-E2E8-42306BBC0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28" y="1564405"/>
            <a:ext cx="10024610" cy="938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0B09B1-2BDC-FAA1-7924-812551BF36E2}"/>
              </a:ext>
            </a:extLst>
          </p:cNvPr>
          <p:cNvSpPr txBox="1"/>
          <p:nvPr/>
        </p:nvSpPr>
        <p:spPr>
          <a:xfrm>
            <a:off x="883091" y="3451034"/>
            <a:ext cx="98583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LambdaRank</a:t>
            </a:r>
            <a:r>
              <a:rPr lang="en-US" sz="2800" dirty="0"/>
              <a:t> is a mixed pairwise/listwise method: for updates we need to sample only pair of documents, but need the value </a:t>
            </a:r>
            <a:r>
              <a:rPr lang="en-US" sz="2800" dirty="0" err="1"/>
              <a:t>maxDCG</a:t>
            </a:r>
            <a:r>
              <a:rPr lang="en-US" sz="2800" dirty="0"/>
              <a:t> from the full list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5D2BE45-3CF2-1A10-1332-2AEB9C347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83" y="2430782"/>
            <a:ext cx="7653623" cy="805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3455D5-C43F-834F-C0AF-681258C39665}"/>
              </a:ext>
            </a:extLst>
          </p:cNvPr>
          <p:cNvSpPr txBox="1"/>
          <p:nvPr/>
        </p:nvSpPr>
        <p:spPr>
          <a:xfrm>
            <a:off x="901283" y="5222684"/>
            <a:ext cx="98583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LambdaRank</a:t>
            </a:r>
            <a:r>
              <a:rPr lang="en-US" sz="2800" dirty="0"/>
              <a:t> is used when scoring model is linear/neural network, if scoring model is boosting, then use </a:t>
            </a:r>
            <a:r>
              <a:rPr lang="en-US" sz="2800" dirty="0" err="1"/>
              <a:t>LambdaMART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69244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F741C-590D-2268-117B-7652430E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LambdaMART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8C42D-3767-1512-8995-4318E13BF47E}"/>
              </a:ext>
            </a:extLst>
          </p:cNvPr>
          <p:cNvSpPr txBox="1"/>
          <p:nvPr/>
        </p:nvSpPr>
        <p:spPr>
          <a:xfrm>
            <a:off x="838199" y="1690688"/>
            <a:ext cx="108345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MART (Multiple Additive Decision Tree) – a classic version of gradient boosting on top of decision trees. Boosting uses loss gradients as pseudo-targets for training next decision tree.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86B78-637E-E277-FB72-E3652675AB07}"/>
              </a:ext>
            </a:extLst>
          </p:cNvPr>
          <p:cNvSpPr txBox="1"/>
          <p:nvPr/>
        </p:nvSpPr>
        <p:spPr>
          <a:xfrm>
            <a:off x="838200" y="4668286"/>
            <a:ext cx="108345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LambdaMART</a:t>
            </a:r>
            <a:r>
              <a:rPr lang="en-US" sz="2800" dirty="0"/>
              <a:t> = MART, where pseudo-targets are computed using loss gradients + </a:t>
            </a:r>
            <a:r>
              <a:rPr lang="en-US" sz="2800" dirty="0" err="1"/>
              <a:t>nDCG</a:t>
            </a:r>
            <a:r>
              <a:rPr lang="en-US" sz="2800" dirty="0"/>
              <a:t>/MAP absolute change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F46B8-FD20-D2E6-7AF2-533B1C156DD3}"/>
              </a:ext>
            </a:extLst>
          </p:cNvPr>
          <p:cNvSpPr txBox="1"/>
          <p:nvPr/>
        </p:nvSpPr>
        <p:spPr>
          <a:xfrm>
            <a:off x="838200" y="3387354"/>
            <a:ext cx="11102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LambdaRank</a:t>
            </a:r>
            <a:r>
              <a:rPr lang="en-US" sz="2800" dirty="0"/>
              <a:t> chooses gradients for training rank algorithm by adding </a:t>
            </a:r>
            <a:r>
              <a:rPr lang="en-US" sz="2800" dirty="0" err="1"/>
              <a:t>nDCG</a:t>
            </a:r>
            <a:r>
              <a:rPr lang="en-US" sz="2800" dirty="0"/>
              <a:t>/MAP absolute change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50167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1CCEF3-4FDD-A681-D4FA-D4743F2C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on gradient boosting for two-class classification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D3C542-7B2C-5E03-E0A3-EF77F859C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47" y="2300303"/>
            <a:ext cx="3023315" cy="10438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E5BFB-24B6-9379-9893-EA1216B920F1}"/>
              </a:ext>
            </a:extLst>
          </p:cNvPr>
          <p:cNvSpPr txBox="1"/>
          <p:nvPr/>
        </p:nvSpPr>
        <p:spPr>
          <a:xfrm>
            <a:off x="880731" y="2563011"/>
            <a:ext cx="2648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 first model: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1B17C1-DAE7-494B-0234-DF09A8944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24" y="1853209"/>
            <a:ext cx="5559022" cy="4762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FF4CB-7F76-03CD-1AA5-7546A2706D82}"/>
              </a:ext>
            </a:extLst>
          </p:cNvPr>
          <p:cNvSpPr txBox="1"/>
          <p:nvPr/>
        </p:nvSpPr>
        <p:spPr>
          <a:xfrm>
            <a:off x="955194" y="4330144"/>
            <a:ext cx="2751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Pseudo-residuals: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ABF90-9F41-6286-326D-E06193BE594F}"/>
              </a:ext>
            </a:extLst>
          </p:cNvPr>
          <p:cNvSpPr txBox="1"/>
          <p:nvPr/>
        </p:nvSpPr>
        <p:spPr>
          <a:xfrm>
            <a:off x="960523" y="5296077"/>
            <a:ext cx="908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 MSE decision tree regression model as next base model: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087A74-7701-C294-F088-5BA177F59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497" y="4232804"/>
            <a:ext cx="3051346" cy="8048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B2BC767-7DBA-94BB-7097-98950D5A9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15" y="3327689"/>
            <a:ext cx="4712835" cy="80484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CE700AE-3F42-EB63-58B3-5D8FD5289C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120" y="5883091"/>
            <a:ext cx="3260043" cy="80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56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5147F-F0FA-A835-3E33-04B4B7E7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8EA72F-9AAB-4F8A-D42C-C95D9516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on gradient boosting for two-class classification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881423-DFC6-C949-3B03-92297EC4C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503047" cy="10575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E11B57-E296-CF88-36EB-95EE8BABAE8D}"/>
              </a:ext>
            </a:extLst>
          </p:cNvPr>
          <p:cNvSpPr txBox="1"/>
          <p:nvPr/>
        </p:nvSpPr>
        <p:spPr>
          <a:xfrm>
            <a:off x="838200" y="2886507"/>
            <a:ext cx="89650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R"/>
            </a:pPr>
            <a:r>
              <a:rPr lang="en-US" sz="2800" dirty="0"/>
              <a:t>Train DT on pseudo-residuals and fix found predicates</a:t>
            </a:r>
          </a:p>
          <a:p>
            <a:pPr marL="514350" indent="-514350">
              <a:buAutoNum type="arabicParenR"/>
            </a:pPr>
            <a:r>
              <a:rPr lang="en-US" sz="2800" dirty="0"/>
              <a:t>Fine-tune prediction in each region by solving 1d optimization problem using one-step Newton procedure: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BF9B2A6-218D-0486-A4F4-BC394167B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79" y="1658747"/>
            <a:ext cx="6156668" cy="10575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6A952E9-1219-6DFA-5C43-C57842E679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436" y="4435846"/>
            <a:ext cx="5485766" cy="105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5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09F2BA-7A11-0840-4EDA-75FE0721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Pseudo-targets in </a:t>
            </a:r>
            <a:r>
              <a:rPr lang="en-US" dirty="0" err="1"/>
              <a:t>LambdaMART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6F1780-CDDC-B754-4F93-95C3B4918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55" y="2344646"/>
            <a:ext cx="4884031" cy="5042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689A0F-1396-ACB9-1B15-54B0BB583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707" y="1549945"/>
            <a:ext cx="3492709" cy="7974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55D267-9AD2-5349-8631-D8AB5158D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36" y="3237046"/>
            <a:ext cx="7774572" cy="90046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3308044-AC29-C60B-4B08-9C304E2489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622" y="4191068"/>
            <a:ext cx="3353022" cy="66913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3BFA339-1E90-F159-23FD-98BB734E60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02" y="5101297"/>
            <a:ext cx="6878787" cy="9911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887FAC-B9CF-1E1E-4027-FF1147CC140B}"/>
              </a:ext>
            </a:extLst>
          </p:cNvPr>
          <p:cNvSpPr txBox="1"/>
          <p:nvPr/>
        </p:nvSpPr>
        <p:spPr>
          <a:xfrm>
            <a:off x="894904" y="1592773"/>
            <a:ext cx="3946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Weighted </a:t>
            </a:r>
            <a:r>
              <a:rPr lang="en-US" sz="2800" dirty="0" err="1"/>
              <a:t>RankNet</a:t>
            </a:r>
            <a:r>
              <a:rPr lang="en-US" sz="2800" dirty="0"/>
              <a:t> loss: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E560E9-BF24-24EB-F5CE-B250A6BCFB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870" y="1688166"/>
            <a:ext cx="3077172" cy="43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69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B1171-5CA7-77E9-A779-ED9B6CFF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1095A-E068-0019-9B29-F4F5194E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Pseudo-targets in </a:t>
            </a:r>
            <a:r>
              <a:rPr lang="en-US" dirty="0" err="1"/>
              <a:t>LambdaMART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9559FC-08AD-B33F-1795-584687254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3818"/>
            <a:ext cx="6878787" cy="99115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50955E-08A0-A1DA-1B1A-D6C3C87B0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37" y="2594340"/>
            <a:ext cx="2681974" cy="824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9ED5BE-E34A-3F2E-F0D6-7BE89ECE7A55}"/>
              </a:ext>
            </a:extLst>
          </p:cNvPr>
          <p:cNvSpPr txBox="1"/>
          <p:nvPr/>
        </p:nvSpPr>
        <p:spPr>
          <a:xfrm>
            <a:off x="838200" y="2677771"/>
            <a:ext cx="2751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Pseudo-residuals: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E280F-5C82-ADD1-948B-95B244286281}"/>
              </a:ext>
            </a:extLst>
          </p:cNvPr>
          <p:cNvSpPr txBox="1"/>
          <p:nvPr/>
        </p:nvSpPr>
        <p:spPr>
          <a:xfrm>
            <a:off x="816934" y="3444354"/>
            <a:ext cx="6390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 next DT base model (find all regions):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4A5A7C-4189-5FAC-E12B-66472B50E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934" y="3354499"/>
            <a:ext cx="3260043" cy="8048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737004-6616-0BBC-49A5-20B06E49B980}"/>
              </a:ext>
            </a:extLst>
          </p:cNvPr>
          <p:cNvSpPr txBox="1"/>
          <p:nvPr/>
        </p:nvSpPr>
        <p:spPr>
          <a:xfrm>
            <a:off x="815359" y="4179050"/>
            <a:ext cx="108804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Fine-tune prediction in each region by solving 1d optimization problem using one-step Newton procedure:</a:t>
            </a:r>
            <a:endParaRPr lang="ru-RU" sz="28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DEF293D-2120-8B90-7DAF-E45C51E74E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466" y="5169751"/>
            <a:ext cx="7350795" cy="163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80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4373B-4B18-2F28-C579-435DE256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LambdaMART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373EA-9A9F-6EB2-3D36-1FC4A9569353}"/>
              </a:ext>
            </a:extLst>
          </p:cNvPr>
          <p:cNvSpPr txBox="1"/>
          <p:nvPr/>
        </p:nvSpPr>
        <p:spPr>
          <a:xfrm>
            <a:off x="838200" y="1778750"/>
            <a:ext cx="108804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All popular boosting libraries (</a:t>
            </a:r>
            <a:r>
              <a:rPr lang="en-US" sz="2800" dirty="0" err="1"/>
              <a:t>xgboost</a:t>
            </a:r>
            <a:r>
              <a:rPr lang="en-US" sz="2800" dirty="0"/>
              <a:t>, </a:t>
            </a:r>
            <a:r>
              <a:rPr lang="en-US" sz="2800" dirty="0" err="1"/>
              <a:t>lightgbm</a:t>
            </a:r>
            <a:r>
              <a:rPr lang="en-US" sz="2800" dirty="0"/>
              <a:t>, </a:t>
            </a:r>
            <a:r>
              <a:rPr lang="en-US" sz="2800" dirty="0" err="1"/>
              <a:t>catboost</a:t>
            </a:r>
            <a:r>
              <a:rPr lang="en-US" sz="2800" dirty="0"/>
              <a:t>) can optimize </a:t>
            </a:r>
            <a:r>
              <a:rPr lang="en-US" sz="2800" dirty="0" err="1"/>
              <a:t>LambdaMART</a:t>
            </a:r>
            <a:r>
              <a:rPr lang="en-US" sz="2800" dirty="0"/>
              <a:t>-like ranking criterions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07079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794B4-2AEA-7001-A631-F705B72E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Listwise Method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6E5489-CEFD-4DD4-A417-1F62EEE81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032" y="2073798"/>
            <a:ext cx="4128067" cy="4778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9E4D1-B94E-A65D-44DF-BABDB044BD0B}"/>
              </a:ext>
            </a:extLst>
          </p:cNvPr>
          <p:cNvSpPr txBox="1"/>
          <p:nvPr/>
        </p:nvSpPr>
        <p:spPr>
          <a:xfrm>
            <a:off x="838200" y="1491931"/>
            <a:ext cx="9815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given query and relevant documents let’s compute their scores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D0F5C-2EA3-DDD7-DCB5-F3A6C7C5485C}"/>
              </a:ext>
            </a:extLst>
          </p:cNvPr>
          <p:cNvSpPr txBox="1"/>
          <p:nvPr/>
        </p:nvSpPr>
        <p:spPr>
          <a:xfrm>
            <a:off x="829854" y="2605426"/>
            <a:ext cx="11184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optimization we need to define a differentiable loss function measuring the distance between graded ordering and given set of scores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21831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794B4-2AEA-7001-A631-F705B72E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Listwise Method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5AEF01-C854-EB21-D039-642CD8373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251" y="2452832"/>
            <a:ext cx="5903950" cy="27392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0868D5-B27C-E58D-769E-EAD1ABFFE42C}"/>
              </a:ext>
            </a:extLst>
          </p:cNvPr>
          <p:cNvSpPr txBox="1"/>
          <p:nvPr/>
        </p:nvSpPr>
        <p:spPr>
          <a:xfrm>
            <a:off x="838200" y="1453918"/>
            <a:ext cx="9667875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introduce probability distribution on a set of permutations (</a:t>
            </a:r>
            <a:r>
              <a:rPr lang="en-US" sz="2800" dirty="0" err="1"/>
              <a:t>Plackett</a:t>
            </a:r>
            <a:r>
              <a:rPr lang="en-US" sz="2800" dirty="0"/>
              <a:t>-Luce probability model):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44F6F4-EDCD-5CE0-C3B9-530838848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650" y="5221552"/>
            <a:ext cx="3199337" cy="7247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E9B445-C266-BFFA-E0B7-7B5E5FF92422}"/>
              </a:ext>
            </a:extLst>
          </p:cNvPr>
          <p:cNvSpPr txBox="1"/>
          <p:nvPr/>
        </p:nvSpPr>
        <p:spPr>
          <a:xfrm>
            <a:off x="838200" y="5240152"/>
            <a:ext cx="220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Loss function: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9984E2-8D43-94B8-EC86-38211C0E7949}"/>
              </a:ext>
            </a:extLst>
          </p:cNvPr>
          <p:cNvSpPr txBox="1"/>
          <p:nvPr/>
        </p:nvSpPr>
        <p:spPr>
          <a:xfrm>
            <a:off x="815162" y="5863586"/>
            <a:ext cx="113555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loss is hard to deal with directly due to too many terms (= number of possible permutations)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53315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794B4-2AEA-7001-A631-F705B72E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ListNet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81E560-71B3-871C-B619-67120BDC4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825" y="2748864"/>
            <a:ext cx="4701679" cy="954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65664C-619E-9DE6-81C0-3099D43221A0}"/>
              </a:ext>
            </a:extLst>
          </p:cNvPr>
          <p:cNvSpPr txBox="1"/>
          <p:nvPr/>
        </p:nvSpPr>
        <p:spPr>
          <a:xfrm>
            <a:off x="838200" y="1690688"/>
            <a:ext cx="102178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Probability that the given element is stated on the first position under </a:t>
            </a:r>
            <a:r>
              <a:rPr lang="en-US" sz="2800" dirty="0" err="1"/>
              <a:t>Plackett</a:t>
            </a:r>
            <a:r>
              <a:rPr lang="en-US" sz="2800" dirty="0"/>
              <a:t>-Luce probability model: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D09824-AAC7-3838-FF81-1A8FB231D078}"/>
              </a:ext>
            </a:extLst>
          </p:cNvPr>
          <p:cNvSpPr txBox="1"/>
          <p:nvPr/>
        </p:nvSpPr>
        <p:spPr>
          <a:xfrm>
            <a:off x="838200" y="3789023"/>
            <a:ext cx="220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Loss function: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884133-FDD9-CF2D-9077-41F56DCF0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16" y="4385064"/>
            <a:ext cx="10968006" cy="8674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D08A3C-6F31-F17C-FF5A-B0048FAFA31E}"/>
              </a:ext>
            </a:extLst>
          </p:cNvPr>
          <p:cNvSpPr txBox="1"/>
          <p:nvPr/>
        </p:nvSpPr>
        <p:spPr>
          <a:xfrm>
            <a:off x="838200" y="5672964"/>
            <a:ext cx="6701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Usage: final ranking between top documents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952914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1438</Words>
  <Application>Microsoft Office PowerPoint</Application>
  <PresentationFormat>Широкоэкранный</PresentationFormat>
  <Paragraphs>170</Paragraphs>
  <Slides>35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Тема Office</vt:lpstr>
      <vt:lpstr>Learning to Rank</vt:lpstr>
      <vt:lpstr>Applications of Ranking</vt:lpstr>
      <vt:lpstr>Scoring model for ranking</vt:lpstr>
      <vt:lpstr>Supervision in Ranking</vt:lpstr>
      <vt:lpstr>Supervision in Ranking</vt:lpstr>
      <vt:lpstr>Supervision in Ranking</vt:lpstr>
      <vt:lpstr>Ranking Evaluation Metrics</vt:lpstr>
      <vt:lpstr>Ranking Evaluation Metrics</vt:lpstr>
      <vt:lpstr>Ranking Evaluation Metrics</vt:lpstr>
      <vt:lpstr>Ranking Evaluation Metrics</vt:lpstr>
      <vt:lpstr>Ranking Evaluation Metrics</vt:lpstr>
      <vt:lpstr>Ranking Evaluation Metrics</vt:lpstr>
      <vt:lpstr>Ranking Evaluation Metrics</vt:lpstr>
      <vt:lpstr>Ranking Evaluation Metrics</vt:lpstr>
      <vt:lpstr>Ranking Evaluation Metrics</vt:lpstr>
      <vt:lpstr>Features for ranking</vt:lpstr>
      <vt:lpstr>Features for ranking</vt:lpstr>
      <vt:lpstr>Features for ranking</vt:lpstr>
      <vt:lpstr>Features for ranking</vt:lpstr>
      <vt:lpstr>Ranking Methods</vt:lpstr>
      <vt:lpstr>Pointwise method</vt:lpstr>
      <vt:lpstr>RankNet (pairwise method)</vt:lpstr>
      <vt:lpstr>Mismatch between ranking error rate and ranking metrics</vt:lpstr>
      <vt:lpstr>LambdaRank</vt:lpstr>
      <vt:lpstr>LambdaRank</vt:lpstr>
      <vt:lpstr>LambdaRank</vt:lpstr>
      <vt:lpstr>LambdaMART</vt:lpstr>
      <vt:lpstr>Recall on gradient boosting for two-class classification</vt:lpstr>
      <vt:lpstr>Recall on gradient boosting for two-class classification</vt:lpstr>
      <vt:lpstr>Pseudo-targets in LambdaMART</vt:lpstr>
      <vt:lpstr>Pseudo-targets in LambdaMART</vt:lpstr>
      <vt:lpstr>LambdaMART</vt:lpstr>
      <vt:lpstr>Listwise Method</vt:lpstr>
      <vt:lpstr>Listwise Method</vt:lpstr>
      <vt:lpstr>ListNet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Kropotov Dmitry</cp:lastModifiedBy>
  <cp:revision>450</cp:revision>
  <dcterms:created xsi:type="dcterms:W3CDTF">2016-07-15T17:21:31Z</dcterms:created>
  <dcterms:modified xsi:type="dcterms:W3CDTF">2026-05-15T03:42:15Z</dcterms:modified>
</cp:coreProperties>
</file>